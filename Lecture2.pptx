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398" r:id="rId3"/>
    <p:sldId id="340" r:id="rId4"/>
    <p:sldId id="349" r:id="rId5"/>
    <p:sldId id="345" r:id="rId6"/>
    <p:sldId id="399" r:id="rId7"/>
    <p:sldId id="354" r:id="rId8"/>
    <p:sldId id="355" r:id="rId9"/>
    <p:sldId id="356" r:id="rId10"/>
    <p:sldId id="396" r:id="rId11"/>
    <p:sldId id="397" r:id="rId12"/>
    <p:sldId id="359" r:id="rId13"/>
    <p:sldId id="384" r:id="rId14"/>
    <p:sldId id="383" r:id="rId15"/>
    <p:sldId id="367" r:id="rId16"/>
    <p:sldId id="385" r:id="rId17"/>
    <p:sldId id="368" r:id="rId18"/>
    <p:sldId id="386" r:id="rId19"/>
    <p:sldId id="387" r:id="rId20"/>
    <p:sldId id="389" r:id="rId21"/>
    <p:sldId id="388" r:id="rId22"/>
    <p:sldId id="390" r:id="rId23"/>
    <p:sldId id="391" r:id="rId24"/>
    <p:sldId id="370" r:id="rId25"/>
    <p:sldId id="393" r:id="rId26"/>
    <p:sldId id="392" r:id="rId27"/>
    <p:sldId id="394" r:id="rId28"/>
    <p:sldId id="373" r:id="rId29"/>
    <p:sldId id="37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0"/>
    <p:restoredTop sz="57945" autoAdjust="0"/>
  </p:normalViewPr>
  <p:slideViewPr>
    <p:cSldViewPr>
      <p:cViewPr varScale="1">
        <p:scale>
          <a:sx n="70" d="100"/>
          <a:sy n="70" d="100"/>
        </p:scale>
        <p:origin x="303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48D702-5827-47B4-BA37-A6793D0FC3F1}" type="datetimeFigureOut">
              <a:rPr lang="en-US" smtClean="0"/>
              <a:t>1/26/26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87A7BB-7C73-4ACE-8542-B0E34BB8D14F}" type="slidenum">
              <a:rPr lang="en-US" smtClean="0"/>
              <a:t>‹#›</a:t>
            </a:fld>
            <a:endParaRPr lang="en-US"/>
          </a:p>
        </p:txBody>
      </p:sp>
    </p:spTree>
    <p:extLst>
      <p:ext uri="{BB962C8B-B14F-4D97-AF65-F5344CB8AC3E}">
        <p14:creationId xmlns:p14="http://schemas.microsoft.com/office/powerpoint/2010/main" val="992924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cryptosmith.com/archives/7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Course slides adapted</a:t>
            </a:r>
            <a:r>
              <a:rPr lang="en-US" baseline="0" dirty="0"/>
              <a:t> from Prateek Mittal, Ed </a:t>
            </a:r>
            <a:r>
              <a:rPr lang="en-US" baseline="0" dirty="0" err="1"/>
              <a:t>Felten</a:t>
            </a:r>
            <a:r>
              <a:rPr lang="en-US" baseline="0" dirty="0"/>
              <a:t>, </a:t>
            </a:r>
            <a:r>
              <a:rPr lang="en-US" baseline="0" dirty="0" err="1"/>
              <a:t>Arvind</a:t>
            </a:r>
            <a:r>
              <a:rPr lang="en-US" baseline="0" dirty="0"/>
              <a:t> Narayanan, Nicholas </a:t>
            </a:r>
            <a:r>
              <a:rPr lang="en-US" baseline="0" dirty="0" err="1"/>
              <a:t>Feamster</a:t>
            </a:r>
            <a:r>
              <a:rPr lang="en-US" baseline="0" dirty="0"/>
              <a:t>, </a:t>
            </a:r>
            <a:r>
              <a:rPr lang="en-US" baseline="0" dirty="0" err="1"/>
              <a:t>Manoj</a:t>
            </a:r>
            <a:r>
              <a:rPr lang="en-US" baseline="0" dirty="0"/>
              <a:t> </a:t>
            </a:r>
            <a:r>
              <a:rPr lang="en-US" baseline="0" dirty="0" err="1"/>
              <a:t>Prabhakaran</a:t>
            </a:r>
            <a:r>
              <a:rPr lang="en-US" baseline="0" dirty="0"/>
              <a:t>, and </a:t>
            </a:r>
            <a:r>
              <a:rPr lang="en-US" baseline="0" dirty="0" err="1"/>
              <a:t>Yih</a:t>
            </a:r>
            <a:r>
              <a:rPr lang="en-US" baseline="0" dirty="0"/>
              <a:t>-Chun Hu. </a:t>
            </a:r>
            <a:endParaRPr lang="en-US" dirty="0"/>
          </a:p>
          <a:p>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1</a:t>
            </a:fld>
            <a:endParaRPr lang="en-US"/>
          </a:p>
        </p:txBody>
      </p:sp>
    </p:spTree>
    <p:extLst>
      <p:ext uri="{BB962C8B-B14F-4D97-AF65-F5344CB8AC3E}">
        <p14:creationId xmlns:p14="http://schemas.microsoft.com/office/powerpoint/2010/main" val="3237594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Enc (the encryption function) takes as input a key k and a message m (also called a plaintext), and produces as output a ciphertext c. We say that c is the encryption of m under k.</a:t>
            </a:r>
          </a:p>
          <a:p>
            <a:endParaRPr lang="en-US" dirty="0"/>
          </a:p>
          <a:p>
            <a:r>
              <a:rPr lang="en-US" dirty="0"/>
              <a:t>The function Dec (the decryption function) takes as input a key k and a ciphertext c, and produces a message m. We say that m is the decryption of c under k.</a:t>
            </a:r>
          </a:p>
          <a:p>
            <a:endParaRPr lang="en-US" dirty="0"/>
          </a:p>
          <a:p>
            <a:r>
              <a:rPr lang="en-US" dirty="0"/>
              <a:t>In one time pad, the functions are “</a:t>
            </a:r>
            <a:r>
              <a:rPr lang="en-US" dirty="0" err="1"/>
              <a:t>xor</a:t>
            </a:r>
            <a:r>
              <a:rPr lang="en-US" dirty="0"/>
              <a:t>” operations. </a:t>
            </a:r>
          </a:p>
          <a:p>
            <a:endParaRPr lang="en-US" baseline="0" dirty="0"/>
          </a:p>
          <a:p>
            <a:r>
              <a:rPr lang="en-US" baseline="0" dirty="0"/>
              <a:t>Secret key is the same length as the message, is one time and should not be re-used. </a:t>
            </a:r>
            <a:endParaRPr lang="en-US" dirty="0"/>
          </a:p>
          <a:p>
            <a:endParaRPr lang="en-US" dirty="0"/>
          </a:p>
          <a:p>
            <a:r>
              <a:rPr lang="en-US" dirty="0"/>
              <a:t>Note: we do not hide the length of the message.</a:t>
            </a:r>
            <a:r>
              <a:rPr lang="en-US" baseline="0" dirty="0"/>
              <a:t> </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2</a:t>
            </a:fld>
            <a:endParaRPr lang="en-US"/>
          </a:p>
        </p:txBody>
      </p:sp>
    </p:spTree>
    <p:extLst>
      <p:ext uri="{BB962C8B-B14F-4D97-AF65-F5344CB8AC3E}">
        <p14:creationId xmlns:p14="http://schemas.microsoft.com/office/powerpoint/2010/main" val="3088821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Show example of distribution of </a:t>
            </a:r>
            <a:r>
              <a:rPr lang="en-US" b="1" dirty="0" err="1"/>
              <a:t>ciphertexts</a:t>
            </a:r>
            <a:r>
              <a:rPr lang="en-US" b="1" dirty="0"/>
              <a:t>. Can guess plaintext with probability 0.5.</a:t>
            </a:r>
            <a:r>
              <a:rPr lang="en-US" b="1" baseline="0" dirty="0"/>
              <a:t> Is it still secret? Yes. </a:t>
            </a:r>
          </a:p>
          <a:p>
            <a:r>
              <a:rPr lang="en-US" b="1" baseline="0" dirty="0"/>
              <a:t>Shannon worked on this in 1940s…Mathematical theory of cryptography.</a:t>
            </a:r>
          </a:p>
          <a:p>
            <a:r>
              <a:rPr lang="en-US" b="1" baseline="0" dirty="0"/>
              <a:t>Can read first 4 pages of http://</a:t>
            </a:r>
            <a:r>
              <a:rPr lang="en-US" b="1" baseline="0" dirty="0" err="1"/>
              <a:t>onlinelibrary.wiley.com</a:t>
            </a:r>
            <a:r>
              <a:rPr lang="en-US" b="1" baseline="0" dirty="0"/>
              <a:t>/</a:t>
            </a:r>
            <a:r>
              <a:rPr lang="en-US" b="1" baseline="0" dirty="0" err="1"/>
              <a:t>doi</a:t>
            </a:r>
            <a:r>
              <a:rPr lang="en-US" b="1" baseline="0" dirty="0"/>
              <a:t>/10.1002/j.1538-7305.1949.tb00928.x/</a:t>
            </a:r>
            <a:r>
              <a:rPr lang="en-US" b="1" baseline="0" dirty="0" err="1"/>
              <a:t>epdf</a:t>
            </a:r>
            <a:endParaRPr lang="en-US" b="1" baseline="0" dirty="0"/>
          </a:p>
          <a:p>
            <a:r>
              <a:rPr lang="en-US" b="1" baseline="0" dirty="0"/>
              <a:t>Can read section 2.1 of https://</a:t>
            </a:r>
            <a:r>
              <a:rPr lang="en-US" b="1" baseline="0" dirty="0" err="1"/>
              <a:t>toc.cryptobook.us</a:t>
            </a:r>
            <a:r>
              <a:rPr lang="en-US" b="1" baseline="0" dirty="0"/>
              <a:t>/</a:t>
            </a:r>
            <a:r>
              <a:rPr lang="en-US" b="1" baseline="0" dirty="0" err="1"/>
              <a:t>book.pdf</a:t>
            </a:r>
            <a:r>
              <a:rPr lang="en-US" b="1" baseline="0" dirty="0"/>
              <a:t>, please keep in mind that our notations could be different. </a:t>
            </a:r>
          </a:p>
          <a:p>
            <a:endParaRPr lang="en-US" b="1" dirty="0"/>
          </a:p>
        </p:txBody>
      </p:sp>
      <p:sp>
        <p:nvSpPr>
          <p:cNvPr id="4" name="Slide Number Placeholder 3"/>
          <p:cNvSpPr>
            <a:spLocks noGrp="1"/>
          </p:cNvSpPr>
          <p:nvPr>
            <p:ph type="sldNum" sz="quarter" idx="10"/>
          </p:nvPr>
        </p:nvSpPr>
        <p:spPr/>
        <p:txBody>
          <a:bodyPr/>
          <a:lstStyle/>
          <a:p>
            <a:fld id="{338F2E4F-C9A8-44BB-8495-EC244BE7959C}" type="slidenum">
              <a:rPr lang="en-US" smtClean="0"/>
              <a:t>3</a:t>
            </a:fld>
            <a:endParaRPr lang="en-US"/>
          </a:p>
        </p:txBody>
      </p:sp>
    </p:spTree>
    <p:extLst>
      <p:ext uri="{BB962C8B-B14F-4D97-AF65-F5344CB8AC3E}">
        <p14:creationId xmlns:p14="http://schemas.microsoft.com/office/powerpoint/2010/main" val="1822706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t>
            </a:r>
            <a:r>
              <a:rPr lang="en-US" dirty="0">
                <a:hlinkClick r:id="rId3"/>
              </a:rPr>
              <a:t>http://www.cryptosmith.com/archives/70</a:t>
            </a:r>
            <a:endParaRPr lang="en-US" dirty="0"/>
          </a:p>
          <a:p>
            <a:r>
              <a:rPr lang="en-US" dirty="0"/>
              <a:t>Even though we defined</a:t>
            </a:r>
            <a:r>
              <a:rPr lang="en-US" baseline="0" dirty="0"/>
              <a:t> adversary to be an algorithm, if human can figure it out, then it is still broken</a:t>
            </a:r>
            <a:endParaRPr lang="en-US" dirty="0"/>
          </a:p>
        </p:txBody>
      </p:sp>
      <p:sp>
        <p:nvSpPr>
          <p:cNvPr id="4" name="Slide Number Placeholder 3"/>
          <p:cNvSpPr>
            <a:spLocks noGrp="1"/>
          </p:cNvSpPr>
          <p:nvPr>
            <p:ph type="sldNum" sz="quarter" idx="10"/>
          </p:nvPr>
        </p:nvSpPr>
        <p:spPr/>
        <p:txBody>
          <a:bodyPr/>
          <a:lstStyle/>
          <a:p>
            <a:fld id="{94566334-40D3-444A-87CD-672C33ED3DCC}" type="slidenum">
              <a:rPr lang="en-US" smtClean="0"/>
              <a:pPr/>
              <a:t>6</a:t>
            </a:fld>
            <a:endParaRPr lang="en-US"/>
          </a:p>
        </p:txBody>
      </p:sp>
    </p:spTree>
    <p:extLst>
      <p:ext uri="{BB962C8B-B14F-4D97-AF65-F5344CB8AC3E}">
        <p14:creationId xmlns:p14="http://schemas.microsoft.com/office/powerpoint/2010/main" val="3097735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Talk about computational complexity, p and np.  </a:t>
            </a:r>
          </a:p>
          <a:p>
            <a:r>
              <a:rPr lang="en-US" baseline="0" dirty="0"/>
              <a:t>2^100 would take how much time on modern computers? Talk about a single instance vs typical instance! </a:t>
            </a:r>
          </a:p>
          <a:p>
            <a:r>
              <a:rPr lang="en-US" baseline="0" dirty="0"/>
              <a:t>(6.28 e^20) (on the order of billions of years)</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7</a:t>
            </a:fld>
            <a:endParaRPr lang="en-US"/>
          </a:p>
        </p:txBody>
      </p:sp>
    </p:spTree>
    <p:extLst>
      <p:ext uri="{BB962C8B-B14F-4D97-AF65-F5344CB8AC3E}">
        <p14:creationId xmlns:p14="http://schemas.microsoft.com/office/powerpoint/2010/main" val="3727313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Talk about computational complexity, p and np. </a:t>
            </a:r>
          </a:p>
          <a:p>
            <a:r>
              <a:rPr lang="en-US" baseline="0" dirty="0"/>
              <a:t>Talk about a single instance vs typical instance! </a:t>
            </a:r>
          </a:p>
          <a:p>
            <a:r>
              <a:rPr lang="en-US" baseline="0" dirty="0" err="1"/>
              <a:t>Keyspace</a:t>
            </a:r>
            <a:r>
              <a:rPr lang="en-US" baseline="0" dirty="0"/>
              <a:t>: set of possible keys; security parameter: knob used to tune </a:t>
            </a:r>
            <a:r>
              <a:rPr lang="en-US" baseline="0" dirty="0" err="1"/>
              <a:t>keyspace</a:t>
            </a:r>
            <a:r>
              <a:rPr lang="en-US" baseline="0" dirty="0"/>
              <a:t> size and achieve desired security. </a:t>
            </a:r>
          </a:p>
        </p:txBody>
      </p:sp>
      <p:sp>
        <p:nvSpPr>
          <p:cNvPr id="4" name="Slide Number Placeholder 3"/>
          <p:cNvSpPr>
            <a:spLocks noGrp="1"/>
          </p:cNvSpPr>
          <p:nvPr>
            <p:ph type="sldNum" sz="quarter" idx="10"/>
          </p:nvPr>
        </p:nvSpPr>
        <p:spPr/>
        <p:txBody>
          <a:bodyPr/>
          <a:lstStyle/>
          <a:p>
            <a:fld id="{338F2E4F-C9A8-44BB-8495-EC244BE7959C}" type="slidenum">
              <a:rPr lang="en-US" smtClean="0"/>
              <a:t>8</a:t>
            </a:fld>
            <a:endParaRPr lang="en-US"/>
          </a:p>
        </p:txBody>
      </p:sp>
    </p:spTree>
    <p:extLst>
      <p:ext uri="{BB962C8B-B14F-4D97-AF65-F5344CB8AC3E}">
        <p14:creationId xmlns:p14="http://schemas.microsoft.com/office/powerpoint/2010/main" val="185636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1:</a:t>
            </a:r>
            <a:r>
              <a:rPr lang="en-US" baseline="0" dirty="0"/>
              <a:t> The key is short!  (unlike the case of one-time pad!)</a:t>
            </a:r>
          </a:p>
          <a:p>
            <a:r>
              <a:rPr lang="en-US" baseline="0" dirty="0"/>
              <a:t>Note 2: R here denotes a message-specific (or session-specific) “nonce”. This helps ensure that even the same message encrypted twice results in different ciphertexts (encryption is randomized). </a:t>
            </a:r>
          </a:p>
          <a:p>
            <a:r>
              <a:rPr lang="en-US" baseline="0" dirty="0"/>
              <a:t>Note 3: The term nonce in cryptography is used in many contexts. For example, we will see this term later in the slides in the context of message integrity as well. </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9</a:t>
            </a:fld>
            <a:endParaRPr lang="en-US"/>
          </a:p>
        </p:txBody>
      </p:sp>
    </p:spTree>
    <p:extLst>
      <p:ext uri="{BB962C8B-B14F-4D97-AF65-F5344CB8AC3E}">
        <p14:creationId xmlns:p14="http://schemas.microsoft.com/office/powerpoint/2010/main" val="118221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borrowed from </a:t>
            </a:r>
            <a:r>
              <a:rPr lang="en-US" dirty="0" err="1"/>
              <a:t>Manoj</a:t>
            </a:r>
            <a:r>
              <a:rPr lang="en-US" baseline="0" dirty="0"/>
              <a:t> </a:t>
            </a:r>
            <a:r>
              <a:rPr lang="en-US" baseline="0" dirty="0" err="1"/>
              <a:t>Prabhakaran’s</a:t>
            </a:r>
            <a:r>
              <a:rPr lang="en-US" baseline="0" dirty="0"/>
              <a:t> </a:t>
            </a:r>
            <a:r>
              <a:rPr lang="en-US" dirty="0"/>
              <a:t>website. Candidate function: Rabin’s function: key squared modulo</a:t>
            </a:r>
            <a:r>
              <a:rPr lang="en-US" baseline="0" dirty="0"/>
              <a:t> public key.</a:t>
            </a:r>
          </a:p>
          <a:p>
            <a:endParaRPr lang="en-US" baseline="0" dirty="0"/>
          </a:p>
          <a:p>
            <a:r>
              <a:rPr lang="en-US" baseline="0" dirty="0"/>
              <a:t>How do we define security of PRG? Recall game based definition. Adversary gets access to a truly random stream or a pseudorandom stream. The adversary can observe this stream for however long the adversary desires. At the end, the adversary needs to guess if the stream was truly random or the output of a PRG. </a:t>
            </a:r>
          </a:p>
          <a:p>
            <a:endParaRPr lang="en-US" baseline="0" dirty="0"/>
          </a:p>
          <a:p>
            <a:r>
              <a:rPr lang="en-US" baseline="0" dirty="0"/>
              <a:t>PRG is secure if an adversary’s advantage over a random guess is negligible. Note that we are limited to computationally bounded adversaries.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t>
            </a:r>
            <a:r>
              <a:rPr lang="en-US" dirty="0"/>
              <a:t>From the bottom diagram on the slide: there is a notion of the “current state” of the</a:t>
            </a:r>
            <a:r>
              <a:rPr lang="en-US" baseline="0" dirty="0"/>
              <a:t> PRG, which advances over time as we obtain more and more random bits </a:t>
            </a:r>
            <a:r>
              <a:rPr lang="en-US" baseline="0" dirty="0">
                <a:sym typeface="Wingdings"/>
              </a:rPr>
              <a:t> will be clear when we discuss how to generate a PRG from a PRF later in the slide)</a:t>
            </a:r>
            <a:endParaRPr lang="en-US" dirty="0"/>
          </a:p>
          <a:p>
            <a:endParaRPr lang="en-US" baseline="0" dirty="0"/>
          </a:p>
        </p:txBody>
      </p:sp>
      <p:sp>
        <p:nvSpPr>
          <p:cNvPr id="4" name="Slide Number Placeholder 3"/>
          <p:cNvSpPr>
            <a:spLocks noGrp="1"/>
          </p:cNvSpPr>
          <p:nvPr>
            <p:ph type="sldNum" sz="quarter" idx="10"/>
          </p:nvPr>
        </p:nvSpPr>
        <p:spPr/>
        <p:txBody>
          <a:bodyPr/>
          <a:lstStyle/>
          <a:p>
            <a:fld id="{338F2E4F-C9A8-44BB-8495-EC244BE7959C}" type="slidenum">
              <a:rPr lang="en-US" smtClean="0"/>
              <a:t>10</a:t>
            </a:fld>
            <a:endParaRPr lang="en-US"/>
          </a:p>
        </p:txBody>
      </p:sp>
    </p:spTree>
    <p:extLst>
      <p:ext uri="{BB962C8B-B14F-4D97-AF65-F5344CB8AC3E}">
        <p14:creationId xmlns:p14="http://schemas.microsoft.com/office/powerpoint/2010/main" val="138871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borrowed from </a:t>
            </a:r>
            <a:r>
              <a:rPr lang="en-US" dirty="0" err="1"/>
              <a:t>Manoj</a:t>
            </a:r>
            <a:r>
              <a:rPr lang="en-US" baseline="0" dirty="0"/>
              <a:t> </a:t>
            </a:r>
            <a:r>
              <a:rPr lang="en-US" baseline="0" dirty="0" err="1"/>
              <a:t>Prabhakaran’s</a:t>
            </a:r>
            <a:r>
              <a:rPr lang="en-US" baseline="0" dirty="0"/>
              <a:t> </a:t>
            </a:r>
            <a:r>
              <a:rPr lang="en-US" dirty="0"/>
              <a:t>website. </a:t>
            </a:r>
          </a:p>
          <a:p>
            <a:endParaRPr lang="en-US" dirty="0"/>
          </a:p>
          <a:p>
            <a:r>
              <a:rPr lang="en-US" dirty="0"/>
              <a:t>How do we define security of</a:t>
            </a:r>
            <a:r>
              <a:rPr lang="en-US" baseline="0" dirty="0"/>
              <a:t> symmetric encryption schemes? Answer: Recall game based definition from previous lecture. Augment the game by first having a repeat loop in which the adversary can input messages and obtain </a:t>
            </a:r>
            <a:r>
              <a:rPr lang="en-US" baseline="0" dirty="0" err="1"/>
              <a:t>ciphertexts</a:t>
            </a:r>
            <a:r>
              <a:rPr lang="en-US" baseline="0" dirty="0"/>
              <a:t>. Then the adversary provides two messages as in the previous lecture, receives </a:t>
            </a:r>
            <a:r>
              <a:rPr lang="en-US" baseline="0" dirty="0" err="1"/>
              <a:t>ciphertext</a:t>
            </a:r>
            <a:r>
              <a:rPr lang="en-US" baseline="0" dirty="0"/>
              <a:t> for one of them, and has to guess which one. </a:t>
            </a:r>
          </a:p>
          <a:p>
            <a:endParaRPr lang="en-US" baseline="0" dirty="0"/>
          </a:p>
          <a:p>
            <a:r>
              <a:rPr lang="en-US" baseline="0" dirty="0"/>
              <a:t>Note, we must ensure that we never re-use a pad!! This motivates Pseudo Random Functions!! </a:t>
            </a:r>
          </a:p>
          <a:p>
            <a:r>
              <a:rPr lang="en-US" baseline="0" dirty="0"/>
              <a:t>(PRF also useful for parallel encryption)</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11</a:t>
            </a:fld>
            <a:endParaRPr lang="en-US"/>
          </a:p>
        </p:txBody>
      </p:sp>
    </p:spTree>
    <p:extLst>
      <p:ext uri="{BB962C8B-B14F-4D97-AF65-F5344CB8AC3E}">
        <p14:creationId xmlns:p14="http://schemas.microsoft.com/office/powerpoint/2010/main" val="138871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 the intuition of a pool of deterministic</a:t>
            </a:r>
            <a:r>
              <a:rPr lang="en-US" baseline="0" dirty="0"/>
              <a:t> public functions. K is the index to the function family. </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12</a:t>
            </a:fld>
            <a:endParaRPr lang="en-US"/>
          </a:p>
        </p:txBody>
      </p:sp>
    </p:spTree>
    <p:extLst>
      <p:ext uri="{BB962C8B-B14F-4D97-AF65-F5344CB8AC3E}">
        <p14:creationId xmlns:p14="http://schemas.microsoft.com/office/powerpoint/2010/main" val="2764954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intuition of a pool of deterministic</a:t>
            </a:r>
            <a:r>
              <a:rPr lang="en-US" baseline="0" dirty="0"/>
              <a:t> public functions. K is the index to the function family. </a:t>
            </a:r>
          </a:p>
          <a:p>
            <a:endParaRPr lang="en-US" baseline="0" dirty="0"/>
          </a:p>
          <a:p>
            <a:r>
              <a:rPr lang="en-US" dirty="0"/>
              <a:t>Annoying question</a:t>
            </a:r>
            <a:r>
              <a:rPr lang="en-US" baseline="0" dirty="0"/>
              <a:t> </a:t>
            </a:r>
            <a:r>
              <a:rPr lang="en-US" baseline="0" dirty="0">
                <a:sym typeface="Wingdings"/>
              </a:rPr>
              <a:t> </a:t>
            </a:r>
            <a:r>
              <a:rPr lang="en-US" dirty="0"/>
              <a:t>Do “secure” PRFs actually</a:t>
            </a:r>
            <a:r>
              <a:rPr lang="en-US" baseline="0" dirty="0"/>
              <a:t> exist? Answer: We don’t know (in terms of provable security). Best we can do: use well studied functions, for which we </a:t>
            </a:r>
            <a:r>
              <a:rPr lang="en-US" baseline="0" dirty="0" err="1"/>
              <a:t>havn’t</a:t>
            </a:r>
            <a:r>
              <a:rPr lang="en-US" baseline="0" dirty="0"/>
              <a:t> spotted a problem yet. A good practical choice in deployed systems: HMAC-SHA256</a:t>
            </a:r>
          </a:p>
          <a:p>
            <a:endParaRPr lang="en-US" baseline="0" dirty="0"/>
          </a:p>
          <a:p>
            <a:r>
              <a:rPr lang="en-US" baseline="0" dirty="0"/>
              <a:t>The notes below are for optional reading only if you are interested, and not required for COS/ECE 432 (certainly not required for assignments!)</a:t>
            </a:r>
          </a:p>
          <a:p>
            <a:r>
              <a:rPr lang="en-US" baseline="0" dirty="0"/>
              <a:t>Details of HMAC-SHA256 algorithm: see RFC 104</a:t>
            </a:r>
          </a:p>
          <a:p>
            <a:r>
              <a:rPr lang="en-US" baseline="0" dirty="0"/>
              <a:t>For example: HMAC(</a:t>
            </a:r>
            <a:r>
              <a:rPr lang="en-US" baseline="0" dirty="0" err="1"/>
              <a:t>k,m</a:t>
            </a:r>
            <a:r>
              <a:rPr lang="en-US" baseline="0" dirty="0"/>
              <a:t>) = SHA256(k </a:t>
            </a:r>
            <a:r>
              <a:rPr lang="en-US" baseline="0" dirty="0" err="1"/>
              <a:t>xor</a:t>
            </a:r>
            <a:r>
              <a:rPr lang="en-US" baseline="0" dirty="0"/>
              <a:t> z1 || SHA256 (k </a:t>
            </a:r>
            <a:r>
              <a:rPr lang="en-US" baseline="0" dirty="0" err="1"/>
              <a:t>xor</a:t>
            </a:r>
            <a:r>
              <a:rPr lang="en-US" baseline="0" dirty="0"/>
              <a:t> z2 || m))</a:t>
            </a:r>
          </a:p>
          <a:p>
            <a:r>
              <a:rPr lang="en-US" dirty="0"/>
              <a:t>z1= 0x3636, z2=0x5c5c</a:t>
            </a:r>
            <a:r>
              <a:rPr lang="mr-IN" dirty="0"/>
              <a:t>…</a:t>
            </a:r>
            <a:r>
              <a:rPr lang="en-US" dirty="0"/>
              <a:t>.</a:t>
            </a:r>
          </a:p>
          <a:p>
            <a:r>
              <a:rPr lang="en-US" dirty="0"/>
              <a:t>SHA256 is a hash function (think</a:t>
            </a:r>
            <a:r>
              <a:rPr lang="en-US" baseline="0" dirty="0"/>
              <a:t> of it as a compression function) (we will study this in the next lecture) </a:t>
            </a:r>
            <a:endParaRPr lang="en-US" dirty="0"/>
          </a:p>
        </p:txBody>
      </p:sp>
      <p:sp>
        <p:nvSpPr>
          <p:cNvPr id="4" name="Slide Number Placeholder 3"/>
          <p:cNvSpPr>
            <a:spLocks noGrp="1"/>
          </p:cNvSpPr>
          <p:nvPr>
            <p:ph type="sldNum" sz="quarter" idx="10"/>
          </p:nvPr>
        </p:nvSpPr>
        <p:spPr/>
        <p:txBody>
          <a:bodyPr/>
          <a:lstStyle/>
          <a:p>
            <a:fld id="{338F2E4F-C9A8-44BB-8495-EC244BE7959C}" type="slidenum">
              <a:rPr lang="en-US" smtClean="0"/>
              <a:t>13</a:t>
            </a:fld>
            <a:endParaRPr lang="en-US"/>
          </a:p>
        </p:txBody>
      </p:sp>
    </p:spTree>
    <p:extLst>
      <p:ext uri="{BB962C8B-B14F-4D97-AF65-F5344CB8AC3E}">
        <p14:creationId xmlns:p14="http://schemas.microsoft.com/office/powerpoint/2010/main" val="2764954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Mallory can</a:t>
            </a:r>
            <a:r>
              <a:rPr lang="en-US" baseline="0" dirty="0"/>
              <a:t> only use “efficient” algorithms. </a:t>
            </a:r>
          </a:p>
          <a:p>
            <a:r>
              <a:rPr lang="en-US" baseline="0" dirty="0"/>
              <a:t>(Otherwise Mallory could just brute force over the space of keys “K” to see if the answers are consistent with F(</a:t>
            </a:r>
            <a:r>
              <a:rPr lang="en-US" baseline="0" dirty="0" err="1"/>
              <a:t>K,mi</a:t>
            </a:r>
            <a:r>
              <a:rPr lang="en-US" baseline="0" dirty="0"/>
              <a:t>), in which case Mallory would know when we use a PRF. </a:t>
            </a:r>
          </a:p>
          <a:p>
            <a:r>
              <a:rPr lang="en-US" baseline="0" dirty="0"/>
              <a:t>Note: In this game, the defender is using either a random function or a PRF </a:t>
            </a:r>
            <a:r>
              <a:rPr lang="en-US" baseline="0" dirty="0">
                <a:sym typeface="Wingdings"/>
              </a:rPr>
              <a:t> this choice is made once, and is fixed for all responses in the repeat loop. </a:t>
            </a:r>
            <a:endParaRPr lang="en-US" baseline="0" dirty="0"/>
          </a:p>
        </p:txBody>
      </p:sp>
      <p:sp>
        <p:nvSpPr>
          <p:cNvPr id="4" name="Slide Number Placeholder 3"/>
          <p:cNvSpPr>
            <a:spLocks noGrp="1"/>
          </p:cNvSpPr>
          <p:nvPr>
            <p:ph type="sldNum" sz="quarter" idx="10"/>
          </p:nvPr>
        </p:nvSpPr>
        <p:spPr/>
        <p:txBody>
          <a:bodyPr/>
          <a:lstStyle/>
          <a:p>
            <a:fld id="{6787A7BB-7C73-4ACE-8542-B0E34BB8D14F}" type="slidenum">
              <a:rPr lang="en-US" smtClean="0"/>
              <a:t>14</a:t>
            </a:fld>
            <a:endParaRPr lang="en-US"/>
          </a:p>
        </p:txBody>
      </p:sp>
    </p:spTree>
    <p:extLst>
      <p:ext uri="{BB962C8B-B14F-4D97-AF65-F5344CB8AC3E}">
        <p14:creationId xmlns:p14="http://schemas.microsoft.com/office/powerpoint/2010/main" val="540908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for conceptual knowledge. I</a:t>
            </a:r>
            <a:r>
              <a:rPr lang="en-US" baseline="0" dirty="0"/>
              <a:t>n practice, we’ll directly work with PRFs…</a:t>
            </a:r>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15</a:t>
            </a:fld>
            <a:endParaRPr lang="en-US"/>
          </a:p>
        </p:txBody>
      </p:sp>
    </p:spTree>
    <p:extLst>
      <p:ext uri="{BB962C8B-B14F-4D97-AF65-F5344CB8AC3E}">
        <p14:creationId xmlns:p14="http://schemas.microsoft.com/office/powerpoint/2010/main" val="4137138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787A7BB-7C73-4ACE-8542-B0E34BB8D14F}" type="slidenum">
              <a:rPr lang="en-US" smtClean="0"/>
              <a:t>16</a:t>
            </a:fld>
            <a:endParaRPr lang="en-US"/>
          </a:p>
        </p:txBody>
      </p:sp>
    </p:spTree>
    <p:extLst>
      <p:ext uri="{BB962C8B-B14F-4D97-AF65-F5344CB8AC3E}">
        <p14:creationId xmlns:p14="http://schemas.microsoft.com/office/powerpoint/2010/main" val="812927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do anything about future security. Why isn’t the previous</a:t>
            </a:r>
            <a:r>
              <a:rPr lang="en-US" baseline="0" dirty="0"/>
              <a:t> construction forward secure? Because we store the state.</a:t>
            </a:r>
          </a:p>
          <a:p>
            <a:r>
              <a:rPr lang="en-US" baseline="0" dirty="0"/>
              <a:t>Note: storing initial key in memory or maintaining a state in memory until the next call can be damaging for forward secrecy.</a:t>
            </a:r>
          </a:p>
          <a:p>
            <a:r>
              <a:rPr lang="en-US" baseline="0" dirty="0"/>
              <a:t>Forward security is also known as backtracking resilience</a:t>
            </a:r>
          </a:p>
        </p:txBody>
      </p:sp>
      <p:sp>
        <p:nvSpPr>
          <p:cNvPr id="4" name="Slide Number Placeholder 3"/>
          <p:cNvSpPr>
            <a:spLocks noGrp="1"/>
          </p:cNvSpPr>
          <p:nvPr>
            <p:ph type="sldNum" sz="quarter" idx="10"/>
          </p:nvPr>
        </p:nvSpPr>
        <p:spPr/>
        <p:txBody>
          <a:bodyPr/>
          <a:lstStyle/>
          <a:p>
            <a:fld id="{6787A7BB-7C73-4ACE-8542-B0E34BB8D14F}" type="slidenum">
              <a:rPr lang="en-US" smtClean="0"/>
              <a:t>17</a:t>
            </a:fld>
            <a:endParaRPr lang="en-US"/>
          </a:p>
        </p:txBody>
      </p:sp>
    </p:spTree>
    <p:extLst>
      <p:ext uri="{BB962C8B-B14F-4D97-AF65-F5344CB8AC3E}">
        <p14:creationId xmlns:p14="http://schemas.microsoft.com/office/powerpoint/2010/main" val="1629674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state is iterated application</a:t>
            </a:r>
            <a:r>
              <a:rPr lang="en-US" baseline="0" dirty="0"/>
              <a:t> of f e.g. it will be f(f(f(f…..(seed,1)…)))</a:t>
            </a:r>
            <a:endParaRPr lang="en-US" dirty="0"/>
          </a:p>
        </p:txBody>
      </p:sp>
      <p:sp>
        <p:nvSpPr>
          <p:cNvPr id="4" name="Slide Number Placeholder 3"/>
          <p:cNvSpPr>
            <a:spLocks noGrp="1"/>
          </p:cNvSpPr>
          <p:nvPr>
            <p:ph type="sldNum" sz="quarter" idx="10"/>
          </p:nvPr>
        </p:nvSpPr>
        <p:spPr/>
        <p:txBody>
          <a:bodyPr/>
          <a:lstStyle/>
          <a:p>
            <a:fld id="{94566334-40D3-444A-87CD-672C33ED3DCC}" type="slidenum">
              <a:rPr lang="en-US" smtClean="0"/>
              <a:pPr/>
              <a:t>18</a:t>
            </a:fld>
            <a:endParaRPr lang="en-US"/>
          </a:p>
        </p:txBody>
      </p:sp>
    </p:spTree>
    <p:extLst>
      <p:ext uri="{BB962C8B-B14F-4D97-AF65-F5344CB8AC3E}">
        <p14:creationId xmlns:p14="http://schemas.microsoft.com/office/powerpoint/2010/main" val="1945552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1: there’s only one actor here, Mallory. We have replaced</a:t>
            </a:r>
            <a:r>
              <a:rPr lang="en-US" baseline="0" dirty="0"/>
              <a:t> Alice and Bob with an algorithm</a:t>
            </a:r>
          </a:p>
          <a:p>
            <a:r>
              <a:rPr lang="en-US" baseline="0" dirty="0"/>
              <a:t>Intuitively: cups with objects under them; Mallory picks cups to look under; can’t choose a new cup and know what is under it without picking it up. </a:t>
            </a:r>
          </a:p>
          <a:p>
            <a:r>
              <a:rPr lang="en-US" baseline="0" dirty="0"/>
              <a:t>Note 2: Mallory can always guess randomly. If function “f” has b bit output, Mallory can win with probability 2^{-b}. Thus, our goal is to ensure that the advantage over random guess is negligible. </a:t>
            </a:r>
          </a:p>
          <a:p>
            <a:r>
              <a:rPr lang="en-US" baseline="0" dirty="0"/>
              <a:t>Note 3: Think carefully about what “b” should be. If b is too small, adversary’s chances of forging a MAC via a random guess can be high. </a:t>
            </a:r>
          </a:p>
          <a:p>
            <a:endParaRPr lang="en-US" baseline="0" dirty="0"/>
          </a:p>
        </p:txBody>
      </p:sp>
      <p:sp>
        <p:nvSpPr>
          <p:cNvPr id="4" name="Slide Number Placeholder 3"/>
          <p:cNvSpPr>
            <a:spLocks noGrp="1"/>
          </p:cNvSpPr>
          <p:nvPr>
            <p:ph type="sldNum" sz="quarter" idx="10"/>
          </p:nvPr>
        </p:nvSpPr>
        <p:spPr/>
        <p:txBody>
          <a:bodyPr/>
          <a:lstStyle/>
          <a:p>
            <a:fld id="{94566334-40D3-444A-87CD-672C33ED3DCC}" type="slidenum">
              <a:rPr lang="en-US" smtClean="0"/>
              <a:pPr/>
              <a:t>23</a:t>
            </a:fld>
            <a:endParaRPr lang="en-US"/>
          </a:p>
        </p:txBody>
      </p:sp>
    </p:spTree>
    <p:extLst>
      <p:ext uri="{BB962C8B-B14F-4D97-AF65-F5344CB8AC3E}">
        <p14:creationId xmlns:p14="http://schemas.microsoft.com/office/powerpoint/2010/main" val="926669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25</a:t>
            </a:fld>
            <a:endParaRPr lang="en-US"/>
          </a:p>
        </p:txBody>
      </p:sp>
    </p:spTree>
    <p:extLst>
      <p:ext uri="{BB962C8B-B14F-4D97-AF65-F5344CB8AC3E}">
        <p14:creationId xmlns:p14="http://schemas.microsoft.com/office/powerpoint/2010/main" val="2652742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denotes the concatenation operation</a:t>
            </a:r>
          </a:p>
          <a:p>
            <a:endParaRPr lang="en-US" dirty="0"/>
          </a:p>
          <a:p>
            <a:r>
              <a:rPr lang="en-US" dirty="0"/>
              <a:t>E(X)</a:t>
            </a:r>
            <a:r>
              <a:rPr lang="en-US" baseline="0" dirty="0"/>
              <a:t> || M(X) is used by SSH. But there is no theorem indicating that this is secure. One needs to be very careful about this approach, some ciphers and MACs are ruled out. </a:t>
            </a:r>
          </a:p>
          <a:p>
            <a:r>
              <a:rPr lang="en-US" baseline="0" dirty="0"/>
              <a:t>E(X || M(x)) is used by SSL/TLS. Same caveat as above. </a:t>
            </a:r>
          </a:p>
          <a:p>
            <a:r>
              <a:rPr lang="en-US" baseline="0" dirty="0"/>
              <a:t>Lets use E(x) || M(E(x)) in our assignments. Theorem: We can show that if E is a semantically secure encryption scheme, and M is a secure MAC, then E(x) || M(E(X)) is a secure authenticated encryption algorithm. </a:t>
            </a:r>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26</a:t>
            </a:fld>
            <a:endParaRPr lang="en-US"/>
          </a:p>
        </p:txBody>
      </p:sp>
    </p:spTree>
    <p:extLst>
      <p:ext uri="{BB962C8B-B14F-4D97-AF65-F5344CB8AC3E}">
        <p14:creationId xmlns:p14="http://schemas.microsoft.com/office/powerpoint/2010/main" val="3078686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a:sym typeface="Wingdings"/>
              </a:rPr>
              <a:t> symbol</a:t>
            </a:r>
            <a:r>
              <a:rPr lang="en-US" baseline="0" dirty="0">
                <a:sym typeface="Wingdings"/>
              </a:rPr>
              <a:t> for concatenation. Note: think carefully about the size of the MAC for the homework</a:t>
            </a:r>
            <a:r>
              <a:rPr lang="is-IS" baseline="0" dirty="0">
                <a:sym typeface="Wingdings"/>
              </a:rPr>
              <a:t>…</a:t>
            </a:r>
          </a:p>
          <a:p>
            <a:endParaRPr lang="is-IS" baseline="0" dirty="0">
              <a:sym typeface="Wingdings"/>
            </a:endParaRPr>
          </a:p>
          <a:p>
            <a:r>
              <a:rPr lang="is-IS" baseline="0" dirty="0">
                <a:sym typeface="Wingdings"/>
              </a:rPr>
              <a:t>Note that it is useful to have a nonce in the encryption function itself: the concatenation of the key with a nonce acts as a session key. This is useful when two parties who share the key want to have multiple communication sessions. In this case, we want their PRG instantiations to be different; use of a nonce provides this randomness. </a:t>
            </a:r>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27</a:t>
            </a:fld>
            <a:endParaRPr lang="en-US"/>
          </a:p>
        </p:txBody>
      </p:sp>
    </p:spTree>
    <p:extLst>
      <p:ext uri="{BB962C8B-B14F-4D97-AF65-F5344CB8AC3E}">
        <p14:creationId xmlns:p14="http://schemas.microsoft.com/office/powerpoint/2010/main" val="3351752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Tips for assignment:</a:t>
            </a:r>
            <a:r>
              <a:rPr lang="en-US" baseline="0" dirty="0"/>
              <a:t> </a:t>
            </a:r>
          </a:p>
          <a:p>
            <a:pPr marL="0" indent="0">
              <a:buNone/>
            </a:pPr>
            <a:endParaRPr lang="en-US" baseline="0" dirty="0"/>
          </a:p>
          <a:p>
            <a:pPr marL="228600" indent="-228600">
              <a:buAutoNum type="arabicParenBoth"/>
            </a:pPr>
            <a:r>
              <a:rPr lang="en-US" baseline="0" dirty="0"/>
              <a:t>Please start early </a:t>
            </a:r>
            <a:r>
              <a:rPr lang="mr-IN" baseline="0" dirty="0"/>
              <a:t>–</a:t>
            </a:r>
            <a:r>
              <a:rPr lang="en-US" baseline="0" dirty="0"/>
              <a:t> this is the most important tip! </a:t>
            </a:r>
          </a:p>
          <a:p>
            <a:pPr marL="228600" indent="-228600">
              <a:buAutoNum type="arabicParenBoth"/>
            </a:pPr>
            <a:r>
              <a:rPr lang="en-US" baseline="0" dirty="0"/>
              <a:t>Good programming style: the code should be clear and readable, since we will be going through it manually. For example, use readable and relevant variable names. Please comment the code. </a:t>
            </a:r>
          </a:p>
          <a:p>
            <a:pPr marL="228600" indent="-228600">
              <a:buAutoNum type="arabicParenBoth"/>
            </a:pPr>
            <a:r>
              <a:rPr lang="en-US" baseline="0" dirty="0"/>
              <a:t>Develop an “adversarial mindset”; relatively minor examples include: (a) think about “keys” in memory, when and how to “erase” them (recall forward secrecy)? (in practical scenarios, variables storing keys can be deleted; for our Java assignments, fine to set those variables to “null”.) (b) think about the difference between some variables being “public” </a:t>
            </a:r>
            <a:r>
              <a:rPr lang="en-US" baseline="0" dirty="0" err="1"/>
              <a:t>vs</a:t>
            </a:r>
            <a:r>
              <a:rPr lang="en-US" baseline="0" dirty="0"/>
              <a:t> “private” in Java.  </a:t>
            </a:r>
          </a:p>
          <a:p>
            <a:pPr marL="228600" indent="-228600">
              <a:buAutoNum type="arabicParenBoth"/>
            </a:pPr>
            <a:endParaRPr lang="en-US" dirty="0"/>
          </a:p>
        </p:txBody>
      </p:sp>
      <p:sp>
        <p:nvSpPr>
          <p:cNvPr id="4" name="Slide Number Placeholder 3"/>
          <p:cNvSpPr>
            <a:spLocks noGrp="1"/>
          </p:cNvSpPr>
          <p:nvPr>
            <p:ph type="sldNum" sz="quarter" idx="10"/>
          </p:nvPr>
        </p:nvSpPr>
        <p:spPr/>
        <p:txBody>
          <a:bodyPr/>
          <a:lstStyle/>
          <a:p>
            <a:fld id="{6787A7BB-7C73-4ACE-8542-B0E34BB8D14F}" type="slidenum">
              <a:rPr lang="en-US" smtClean="0"/>
              <a:t>29</a:t>
            </a:fld>
            <a:endParaRPr lang="en-US"/>
          </a:p>
        </p:txBody>
      </p:sp>
    </p:spTree>
    <p:extLst>
      <p:ext uri="{BB962C8B-B14F-4D97-AF65-F5344CB8AC3E}">
        <p14:creationId xmlns:p14="http://schemas.microsoft.com/office/powerpoint/2010/main" val="1358601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solidFill>
                  <a:srgbClr val="0000FF"/>
                </a:solidFill>
              </a:rPr>
              <a:t>COS/ECE 432</a:t>
            </a:r>
            <a:br>
              <a:rPr lang="en-US" dirty="0">
                <a:solidFill>
                  <a:srgbClr val="0000FF"/>
                </a:solidFill>
              </a:rPr>
            </a:br>
            <a:r>
              <a:rPr lang="en-US" dirty="0">
                <a:solidFill>
                  <a:srgbClr val="0000FF"/>
                </a:solidFill>
              </a:rPr>
              <a:t>Information Security</a:t>
            </a:r>
          </a:p>
        </p:txBody>
      </p:sp>
      <p:sp>
        <p:nvSpPr>
          <p:cNvPr id="3" name="Subtitle 2"/>
          <p:cNvSpPr>
            <a:spLocks noGrp="1"/>
          </p:cNvSpPr>
          <p:nvPr>
            <p:ph type="subTitle" idx="1"/>
          </p:nvPr>
        </p:nvSpPr>
        <p:spPr/>
        <p:txBody>
          <a:bodyPr/>
          <a:lstStyle/>
          <a:p>
            <a:r>
              <a:rPr lang="en-US" dirty="0" err="1"/>
              <a:t>Prateek</a:t>
            </a:r>
            <a:r>
              <a:rPr lang="en-US" dirty="0"/>
              <a:t> Mittal</a:t>
            </a:r>
          </a:p>
          <a:p>
            <a:r>
              <a:rPr lang="en-US" dirty="0"/>
              <a:t>Princeton University</a:t>
            </a:r>
          </a:p>
        </p:txBody>
      </p:sp>
    </p:spTree>
    <p:extLst>
      <p:ext uri="{BB962C8B-B14F-4D97-AF65-F5344CB8AC3E}">
        <p14:creationId xmlns:p14="http://schemas.microsoft.com/office/powerpoint/2010/main" val="64917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Recall:</a:t>
            </a:r>
            <a:br>
              <a:rPr lang="en-US" dirty="0">
                <a:solidFill>
                  <a:srgbClr val="0000FF"/>
                </a:solidFill>
              </a:rPr>
            </a:br>
            <a:r>
              <a:rPr lang="en-US" dirty="0">
                <a:solidFill>
                  <a:srgbClr val="0000FF"/>
                </a:solidFill>
              </a:rPr>
              <a:t>Confidentiality via One-time Pad</a:t>
            </a:r>
          </a:p>
        </p:txBody>
      </p:sp>
      <p:sp>
        <p:nvSpPr>
          <p:cNvPr id="3" name="Content Placeholder 2"/>
          <p:cNvSpPr>
            <a:spLocks noGrp="1"/>
          </p:cNvSpPr>
          <p:nvPr>
            <p:ph idx="1"/>
          </p:nvPr>
        </p:nvSpPr>
        <p:spPr/>
        <p:txBody>
          <a:bodyPr/>
          <a:lstStyle/>
          <a:p>
            <a:r>
              <a:rPr lang="en-US" dirty="0"/>
              <a:t>No computational assumptions about the adversary</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599" y="4002357"/>
            <a:ext cx="2024842" cy="8771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AutoShape 6"/>
          <p:cNvSpPr>
            <a:spLocks noChangeArrowheads="1"/>
          </p:cNvSpPr>
          <p:nvPr/>
        </p:nvSpPr>
        <p:spPr bwMode="auto">
          <a:xfrm>
            <a:off x="3200399" y="3742452"/>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endParaRPr lang="en-US" dirty="0"/>
          </a:p>
          <a:p>
            <a:pPr algn="ctr"/>
            <a:r>
              <a:rPr lang="en-US" dirty="0"/>
              <a:t>Internet ISPs</a:t>
            </a:r>
          </a:p>
        </p:txBody>
      </p:sp>
      <p:sp>
        <p:nvSpPr>
          <p:cNvPr id="6" name="Line 7"/>
          <p:cNvSpPr>
            <a:spLocks noChangeShapeType="1"/>
          </p:cNvSpPr>
          <p:nvPr/>
        </p:nvSpPr>
        <p:spPr bwMode="auto">
          <a:xfrm>
            <a:off x="2209799" y="4493276"/>
            <a:ext cx="914400" cy="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8"/>
          <p:cNvSpPr>
            <a:spLocks noChangeShapeType="1"/>
          </p:cNvSpPr>
          <p:nvPr/>
        </p:nvSpPr>
        <p:spPr bwMode="auto">
          <a:xfrm flipV="1">
            <a:off x="6076405" y="4440927"/>
            <a:ext cx="1010194" cy="16789"/>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 name="Picture 6" descr="C:\Users\mittal\AppData\Local\Microsoft\Windows\Temporary Internet Files\Content.IE5\OGRUXCMU\MP900316886[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399" y="3798332"/>
            <a:ext cx="1624215" cy="1389888"/>
          </a:xfrm>
          <a:prstGeom prst="rect">
            <a:avLst/>
          </a:prstGeom>
          <a:noFill/>
          <a:extLst>
            <a:ext uri="{909E8E84-426E-40dd-AFC4-6F175D3DCCD1}">
              <a14:hiddenFill xmlns="" xmlns:a14="http://schemas.microsoft.com/office/drawing/2010/main">
                <a:solidFill>
                  <a:srgbClr val="FFFFFF"/>
                </a:solidFill>
              </a14:hiddenFill>
            </a:ext>
          </a:extLst>
        </p:spPr>
      </p:pic>
      <p:sp>
        <p:nvSpPr>
          <p:cNvPr id="9" name="Cloud Callout 8"/>
          <p:cNvSpPr/>
          <p:nvPr/>
        </p:nvSpPr>
        <p:spPr>
          <a:xfrm>
            <a:off x="3853187" y="2346263"/>
            <a:ext cx="1792532" cy="1604807"/>
          </a:xfrm>
          <a:prstGeom prst="cloudCallout">
            <a:avLst>
              <a:gd name="adj1" fmla="val -55769"/>
              <a:gd name="adj2" fmla="val 73848"/>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4377580" y="2682260"/>
            <a:ext cx="824265" cy="646331"/>
          </a:xfrm>
          <a:prstGeom prst="rect">
            <a:avLst/>
          </a:prstGeom>
          <a:noFill/>
        </p:spPr>
        <p:txBody>
          <a:bodyPr wrap="none" rtlCol="0">
            <a:spAutoFit/>
          </a:bodyPr>
          <a:lstStyle/>
          <a:p>
            <a:r>
              <a:rPr lang="en-US" sz="3600" dirty="0"/>
              <a:t>???</a:t>
            </a:r>
          </a:p>
        </p:txBody>
      </p:sp>
      <p:sp>
        <p:nvSpPr>
          <p:cNvPr id="14" name="Flowchart: Connector 13"/>
          <p:cNvSpPr/>
          <p:nvPr/>
        </p:nvSpPr>
        <p:spPr>
          <a:xfrm>
            <a:off x="2666999" y="3545157"/>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33398" y="5383667"/>
            <a:ext cx="2059859" cy="923330"/>
          </a:xfrm>
          <a:prstGeom prst="rect">
            <a:avLst/>
          </a:prstGeom>
          <a:noFill/>
        </p:spPr>
        <p:txBody>
          <a:bodyPr wrap="none" rtlCol="0">
            <a:spAutoFit/>
          </a:bodyPr>
          <a:lstStyle/>
          <a:p>
            <a:r>
              <a:rPr lang="en-US" dirty="0"/>
              <a:t>Message: M = {0,1}</a:t>
            </a:r>
            <a:r>
              <a:rPr lang="en-US" baseline="30000" dirty="0"/>
              <a:t>n</a:t>
            </a:r>
          </a:p>
          <a:p>
            <a:r>
              <a:rPr lang="en-US" dirty="0"/>
              <a:t>Key: K = {0,1}</a:t>
            </a:r>
            <a:r>
              <a:rPr lang="en-US" baseline="30000" dirty="0"/>
              <a:t>n</a:t>
            </a:r>
          </a:p>
          <a:p>
            <a:r>
              <a:rPr lang="en-US" dirty="0" err="1"/>
              <a:t>Enc</a:t>
            </a:r>
            <a:r>
              <a:rPr lang="en-US" dirty="0"/>
              <a:t>(M,K) = M</a:t>
            </a:r>
            <a:r>
              <a:rPr lang="en-US" dirty="0">
                <a:latin typeface="Cambria Math"/>
                <a:ea typeface="Cambria Math"/>
              </a:rPr>
              <a:t>⊕</a:t>
            </a:r>
            <a:r>
              <a:rPr lang="en-US" dirty="0"/>
              <a:t>K</a:t>
            </a:r>
          </a:p>
        </p:txBody>
      </p:sp>
      <p:sp>
        <p:nvSpPr>
          <p:cNvPr id="18" name="TextBox 17"/>
          <p:cNvSpPr txBox="1"/>
          <p:nvPr/>
        </p:nvSpPr>
        <p:spPr>
          <a:xfrm>
            <a:off x="2214976" y="3937373"/>
            <a:ext cx="1023037" cy="369332"/>
          </a:xfrm>
          <a:prstGeom prst="rect">
            <a:avLst/>
          </a:prstGeom>
          <a:noFill/>
        </p:spPr>
        <p:txBody>
          <a:bodyPr wrap="none" rtlCol="0">
            <a:spAutoFit/>
          </a:bodyPr>
          <a:lstStyle/>
          <a:p>
            <a:r>
              <a:rPr lang="en-US" dirty="0"/>
              <a:t>C= M</a:t>
            </a:r>
            <a:r>
              <a:rPr lang="en-US" dirty="0">
                <a:latin typeface="Cambria Math"/>
                <a:ea typeface="Cambria Math"/>
              </a:rPr>
              <a:t>⊕</a:t>
            </a:r>
            <a:r>
              <a:rPr lang="en-US" dirty="0"/>
              <a:t>K</a:t>
            </a:r>
          </a:p>
        </p:txBody>
      </p:sp>
      <p:sp>
        <p:nvSpPr>
          <p:cNvPr id="19" name="TextBox 18"/>
          <p:cNvSpPr txBox="1"/>
          <p:nvPr/>
        </p:nvSpPr>
        <p:spPr>
          <a:xfrm>
            <a:off x="7000108" y="5403031"/>
            <a:ext cx="2133006" cy="923330"/>
          </a:xfrm>
          <a:prstGeom prst="rect">
            <a:avLst/>
          </a:prstGeom>
          <a:noFill/>
        </p:spPr>
        <p:txBody>
          <a:bodyPr wrap="square" rtlCol="0">
            <a:spAutoFit/>
          </a:bodyPr>
          <a:lstStyle/>
          <a:p>
            <a:endParaRPr lang="en-US" dirty="0"/>
          </a:p>
          <a:p>
            <a:r>
              <a:rPr lang="en-US" dirty="0"/>
              <a:t>Key: K = {0,1}</a:t>
            </a:r>
            <a:r>
              <a:rPr lang="en-US" baseline="30000" dirty="0"/>
              <a:t>n</a:t>
            </a:r>
          </a:p>
          <a:p>
            <a:r>
              <a:rPr lang="en-US" dirty="0"/>
              <a:t>Dec(C,K) = C</a:t>
            </a:r>
            <a:r>
              <a:rPr lang="en-US" dirty="0">
                <a:latin typeface="Cambria Math"/>
                <a:ea typeface="Cambria Math"/>
              </a:rPr>
              <a:t>⊕</a:t>
            </a:r>
            <a:r>
              <a:rPr lang="en-US" dirty="0"/>
              <a:t>K = M</a:t>
            </a:r>
          </a:p>
        </p:txBody>
      </p:sp>
      <p:sp>
        <p:nvSpPr>
          <p:cNvPr id="20" name="TextBox 19"/>
          <p:cNvSpPr txBox="1"/>
          <p:nvPr/>
        </p:nvSpPr>
        <p:spPr>
          <a:xfrm>
            <a:off x="6076405" y="3951070"/>
            <a:ext cx="1023037" cy="369332"/>
          </a:xfrm>
          <a:prstGeom prst="rect">
            <a:avLst/>
          </a:prstGeom>
          <a:noFill/>
        </p:spPr>
        <p:txBody>
          <a:bodyPr wrap="none" rtlCol="0">
            <a:spAutoFit/>
          </a:bodyPr>
          <a:lstStyle/>
          <a:p>
            <a:r>
              <a:rPr lang="en-US" dirty="0"/>
              <a:t>C= M</a:t>
            </a:r>
            <a:r>
              <a:rPr lang="en-US" dirty="0">
                <a:latin typeface="Cambria Math"/>
                <a:ea typeface="Cambria Math"/>
              </a:rPr>
              <a:t>⊕</a:t>
            </a:r>
            <a:r>
              <a:rPr lang="en-US" dirty="0"/>
              <a:t>K</a:t>
            </a:r>
          </a:p>
        </p:txBody>
      </p:sp>
      <p:sp>
        <p:nvSpPr>
          <p:cNvPr id="21" name="TextBox 20"/>
          <p:cNvSpPr txBox="1"/>
          <p:nvPr/>
        </p:nvSpPr>
        <p:spPr>
          <a:xfrm>
            <a:off x="5645719" y="2515471"/>
            <a:ext cx="3132076" cy="646331"/>
          </a:xfrm>
          <a:prstGeom prst="rect">
            <a:avLst/>
          </a:prstGeom>
          <a:noFill/>
        </p:spPr>
        <p:txBody>
          <a:bodyPr wrap="none" rtlCol="0">
            <a:spAutoFit/>
          </a:bodyPr>
          <a:lstStyle/>
          <a:p>
            <a:r>
              <a:rPr lang="en-US" dirty="0"/>
              <a:t>Adversary: gets no information </a:t>
            </a:r>
          </a:p>
          <a:p>
            <a:r>
              <a:rPr lang="en-US" dirty="0"/>
              <a:t>from </a:t>
            </a:r>
            <a:r>
              <a:rPr lang="en-US" dirty="0" err="1"/>
              <a:t>ciphertext</a:t>
            </a:r>
            <a:endParaRPr lang="en-US" dirty="0"/>
          </a:p>
        </p:txBody>
      </p:sp>
      <p:cxnSp>
        <p:nvCxnSpPr>
          <p:cNvPr id="23" name="Straight Arrow Connector 22"/>
          <p:cNvCxnSpPr/>
          <p:nvPr/>
        </p:nvCxnSpPr>
        <p:spPr>
          <a:xfrm>
            <a:off x="1971674" y="5845332"/>
            <a:ext cx="5029199" cy="0"/>
          </a:xfrm>
          <a:prstGeom prst="straightConnector1">
            <a:avLst/>
          </a:prstGeom>
          <a:ln>
            <a:prstDash val="sysDot"/>
            <a:headEnd type="arrow"/>
            <a:tailEnd type="arrow"/>
          </a:ln>
        </p:spPr>
        <p:style>
          <a:lnRef idx="3">
            <a:schemeClr val="accent3"/>
          </a:lnRef>
          <a:fillRef idx="0">
            <a:schemeClr val="accent3"/>
          </a:fillRef>
          <a:effectRef idx="2">
            <a:schemeClr val="accent3"/>
          </a:effectRef>
          <a:fontRef idx="minor">
            <a:schemeClr val="tx1"/>
          </a:fontRef>
        </p:style>
      </p:cxnSp>
      <p:sp>
        <p:nvSpPr>
          <p:cNvPr id="24" name="TextBox 23"/>
          <p:cNvSpPr txBox="1"/>
          <p:nvPr/>
        </p:nvSpPr>
        <p:spPr>
          <a:xfrm>
            <a:off x="3733800" y="5486400"/>
            <a:ext cx="2321854" cy="369332"/>
          </a:xfrm>
          <a:prstGeom prst="rect">
            <a:avLst/>
          </a:prstGeom>
          <a:noFill/>
        </p:spPr>
        <p:txBody>
          <a:bodyPr wrap="none" rtlCol="0">
            <a:spAutoFit/>
          </a:bodyPr>
          <a:lstStyle/>
          <a:p>
            <a:r>
              <a:rPr lang="en-US" dirty="0"/>
              <a:t>Secret Key Distribution</a:t>
            </a:r>
          </a:p>
        </p:txBody>
      </p:sp>
    </p:spTree>
    <p:extLst>
      <p:ext uri="{BB962C8B-B14F-4D97-AF65-F5344CB8AC3E}">
        <p14:creationId xmlns:p14="http://schemas.microsoft.com/office/powerpoint/2010/main" val="417683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21"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Recall: Desired Encryption Properties?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534400" cy="4525963"/>
              </a:xfrm>
            </p:spPr>
            <p:txBody>
              <a:bodyPr>
                <a:normAutofit/>
              </a:bodyPr>
              <a:lstStyle/>
              <a:p>
                <a:r>
                  <a:rPr lang="en-US" dirty="0">
                    <a:solidFill>
                      <a:srgbClr val="FF0000"/>
                    </a:solidFill>
                  </a:rPr>
                  <a:t>Correctness</a:t>
                </a:r>
              </a:p>
              <a:p>
                <a:pPr lvl="1"/>
                <a14:m>
                  <m:oMath xmlns:m="http://schemas.openxmlformats.org/officeDocument/2006/math">
                    <m:r>
                      <a:rPr lang="en-US" i="1" smtClean="0">
                        <a:latin typeface="Cambria Math"/>
                        <a:ea typeface="Cambria Math"/>
                      </a:rPr>
                      <m:t>∀</m:t>
                    </m:r>
                    <m:r>
                      <a:rPr lang="en-US" b="0" i="1" smtClean="0">
                        <a:latin typeface="Cambria Math"/>
                        <a:ea typeface="Cambria Math"/>
                      </a:rPr>
                      <m:t> </m:t>
                    </m:r>
                    <m:r>
                      <a:rPr lang="en-US" b="0" i="1" smtClean="0">
                        <a:latin typeface="Cambria Math"/>
                        <a:ea typeface="Cambria Math"/>
                      </a:rPr>
                      <m:t>𝑚</m:t>
                    </m:r>
                    <m:r>
                      <a:rPr lang="en-US" b="0" i="1" smtClean="0">
                        <a:latin typeface="Cambria Math"/>
                        <a:ea typeface="Cambria Math"/>
                      </a:rPr>
                      <m:t>, </m:t>
                    </m:r>
                    <m:r>
                      <a:rPr lang="en-US" b="0" i="1" smtClean="0">
                        <a:latin typeface="Cambria Math"/>
                        <a:ea typeface="Cambria Math"/>
                      </a:rPr>
                      <m:t>𝑘</m:t>
                    </m:r>
                    <m:r>
                      <a:rPr lang="en-US" b="0" i="1" smtClean="0">
                        <a:latin typeface="Cambria Math"/>
                        <a:ea typeface="Cambria Math"/>
                      </a:rPr>
                      <m:t>, </m:t>
                    </m:r>
                    <m:r>
                      <a:rPr lang="en-US" b="0" i="1" smtClean="0">
                        <a:latin typeface="Cambria Math"/>
                        <a:ea typeface="Cambria Math"/>
                      </a:rPr>
                      <m:t>𝐷𝑒𝑐</m:t>
                    </m:r>
                    <m:d>
                      <m:dPr>
                        <m:ctrlPr>
                          <a:rPr lang="en-US" b="0" i="1" smtClean="0">
                            <a:latin typeface="Cambria Math" panose="02040503050406030204" pitchFamily="18" charset="0"/>
                            <a:ea typeface="Cambria Math"/>
                          </a:rPr>
                        </m:ctrlPr>
                      </m:dPr>
                      <m:e>
                        <m:r>
                          <a:rPr lang="en-US" b="0" i="1" smtClean="0">
                            <a:latin typeface="Cambria Math"/>
                            <a:ea typeface="Cambria Math"/>
                          </a:rPr>
                          <m:t> </m:t>
                        </m:r>
                        <m:r>
                          <a:rPr lang="en-US" b="0" i="1" smtClean="0">
                            <a:latin typeface="Cambria Math"/>
                            <a:ea typeface="Cambria Math"/>
                          </a:rPr>
                          <m:t>𝐸𝑛𝑐</m:t>
                        </m:r>
                        <m:r>
                          <a:rPr lang="en-US" b="0" i="1" smtClean="0">
                            <a:latin typeface="Cambria Math"/>
                            <a:ea typeface="Cambria Math"/>
                          </a:rPr>
                          <m:t> </m:t>
                        </m:r>
                        <m:d>
                          <m:dPr>
                            <m:ctrlPr>
                              <a:rPr lang="en-US" b="0" i="1" smtClean="0">
                                <a:latin typeface="Cambria Math" panose="02040503050406030204" pitchFamily="18" charset="0"/>
                                <a:ea typeface="Cambria Math"/>
                              </a:rPr>
                            </m:ctrlPr>
                          </m:dPr>
                          <m:e>
                            <m:r>
                              <a:rPr lang="en-US" b="0" i="1" smtClean="0">
                                <a:latin typeface="Cambria Math"/>
                                <a:ea typeface="Cambria Math"/>
                              </a:rPr>
                              <m:t>𝑚</m:t>
                            </m:r>
                            <m:r>
                              <a:rPr lang="en-US" b="0" i="1" smtClean="0">
                                <a:latin typeface="Cambria Math"/>
                                <a:ea typeface="Cambria Math"/>
                              </a:rPr>
                              <m:t>,</m:t>
                            </m:r>
                            <m:r>
                              <a:rPr lang="en-US" b="0" i="1" smtClean="0">
                                <a:latin typeface="Cambria Math"/>
                                <a:ea typeface="Cambria Math"/>
                              </a:rPr>
                              <m:t>𝑘</m:t>
                            </m:r>
                          </m:e>
                        </m:d>
                        <m:r>
                          <a:rPr lang="en-US" b="0" i="1" smtClean="0">
                            <a:latin typeface="Cambria Math"/>
                            <a:ea typeface="Cambria Math"/>
                          </a:rPr>
                          <m:t>, </m:t>
                        </m:r>
                        <m:r>
                          <a:rPr lang="en-US" b="0" i="1" smtClean="0">
                            <a:latin typeface="Cambria Math"/>
                            <a:ea typeface="Cambria Math"/>
                          </a:rPr>
                          <m:t>𝑘</m:t>
                        </m:r>
                      </m:e>
                    </m:d>
                    <m:r>
                      <a:rPr lang="en-US" b="0" i="1" smtClean="0">
                        <a:latin typeface="Cambria Math"/>
                        <a:ea typeface="Cambria Math"/>
                      </a:rPr>
                      <m:t>=</m:t>
                    </m:r>
                    <m:r>
                      <a:rPr lang="en-US" b="0" i="1" smtClean="0">
                        <a:latin typeface="Cambria Math"/>
                        <a:ea typeface="Cambria Math"/>
                      </a:rPr>
                      <m:t>𝑚</m:t>
                    </m:r>
                  </m:oMath>
                </a14:m>
                <a:endParaRPr lang="en-US" b="0" dirty="0">
                  <a:ea typeface="Cambria Math"/>
                </a:endParaRPr>
              </a:p>
              <a:p>
                <a:pPr lvl="1"/>
                <a:r>
                  <a:rPr lang="en-US" dirty="0"/>
                  <a:t>One time pad: </a:t>
                </a:r>
                <a:r>
                  <a:rPr lang="en-US" b="0" i="0" dirty="0">
                    <a:latin typeface="+mj-lt"/>
                  </a:rPr>
                  <a:t>(</a:t>
                </a:r>
                <a:r>
                  <a:rPr lang="en-US" b="0" i="0" dirty="0" err="1">
                    <a:latin typeface="+mj-lt"/>
                  </a:rPr>
                  <a:t>m</a:t>
                </a:r>
                <a:r>
                  <a:rPr lang="en-US" b="0" i="0" dirty="0" err="1">
                    <a:latin typeface="Cambria Math"/>
                    <a:ea typeface="Cambria Math"/>
                  </a:rPr>
                  <a:t>⨁</a:t>
                </a:r>
                <a:r>
                  <a:rPr lang="en-US" b="0" i="0" dirty="0" err="1">
                    <a:latin typeface="+mj-lt"/>
                  </a:rPr>
                  <a:t>k</a:t>
                </a:r>
                <a:r>
                  <a:rPr lang="en-US" b="0" i="0" dirty="0">
                    <a:latin typeface="+mj-lt"/>
                  </a:rPr>
                  <a:t>)</a:t>
                </a:r>
                <a14:m>
                  <m:oMath xmlns:m="http://schemas.openxmlformats.org/officeDocument/2006/math">
                    <m:r>
                      <a:rPr lang="en-US" i="1">
                        <a:latin typeface="Cambria Math"/>
                        <a:ea typeface="Cambria Math"/>
                      </a:rPr>
                      <m:t>⨁</m:t>
                    </m:r>
                    <m:r>
                      <a:rPr lang="en-US" b="0" i="1" smtClean="0">
                        <a:latin typeface="Cambria Math"/>
                      </a:rPr>
                      <m:t>𝑘</m:t>
                    </m:r>
                    <m:r>
                      <a:rPr lang="en-US" b="0" i="1" smtClean="0">
                        <a:latin typeface="Cambria Math"/>
                      </a:rPr>
                      <m:t>=</m:t>
                    </m:r>
                    <m:r>
                      <a:rPr lang="en-US" b="0" i="1" smtClean="0">
                        <a:latin typeface="Cambria Math"/>
                      </a:rPr>
                      <m:t>𝑚</m:t>
                    </m:r>
                  </m:oMath>
                </a14:m>
                <a:endParaRPr lang="en-US" dirty="0"/>
              </a:p>
              <a:p>
                <a:r>
                  <a:rPr lang="en-US" dirty="0">
                    <a:solidFill>
                      <a:srgbClr val="FF0000"/>
                    </a:solidFill>
                  </a:rPr>
                  <a:t>Perfect secrecy</a:t>
                </a:r>
              </a:p>
              <a:p>
                <a:pPr lvl="1"/>
                <a:r>
                  <a:rPr lang="en-US" sz="2400" dirty="0">
                    <a:solidFill>
                      <a:srgbClr val="FF0000"/>
                    </a:solidFill>
                  </a:rPr>
                  <a:t>Distribution of </a:t>
                </a:r>
                <a:r>
                  <a:rPr lang="en-US" sz="2400" dirty="0" err="1">
                    <a:solidFill>
                      <a:srgbClr val="FF0000"/>
                    </a:solidFill>
                  </a:rPr>
                  <a:t>ciphertexts</a:t>
                </a:r>
                <a:r>
                  <a:rPr lang="en-US" sz="2400" dirty="0">
                    <a:solidFill>
                      <a:srgbClr val="FF0000"/>
                    </a:solidFill>
                  </a:rPr>
                  <a:t> independent of message</a:t>
                </a:r>
              </a:p>
              <a:p>
                <a:pPr lvl="1"/>
                <a14:m>
                  <m:oMath xmlns:m="http://schemas.openxmlformats.org/officeDocument/2006/math">
                    <m:r>
                      <a:rPr lang="en-US" b="0" i="1" smtClean="0">
                        <a:latin typeface="Cambria Math"/>
                        <a:ea typeface="Cambria Math"/>
                      </a:rPr>
                      <m:t>∀</m:t>
                    </m:r>
                    <m:r>
                      <a:rPr lang="en-US" b="0" i="1" smtClean="0">
                        <a:latin typeface="Cambria Math"/>
                        <a:ea typeface="Cambria Math"/>
                      </a:rPr>
                      <m:t>𝑚</m:t>
                    </m:r>
                    <m:r>
                      <a:rPr lang="en-US" b="0" i="1" smtClean="0">
                        <a:latin typeface="Cambria Math"/>
                        <a:ea typeface="Cambria Math"/>
                      </a:rPr>
                      <m:t>, </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𝑚</m:t>
                        </m:r>
                      </m:e>
                      <m:sup>
                        <m:r>
                          <a:rPr lang="en-US" b="0" i="1" smtClean="0">
                            <a:latin typeface="Cambria Math"/>
                            <a:ea typeface="Cambria Math"/>
                          </a:rPr>
                          <m:t>′</m:t>
                        </m:r>
                      </m:sup>
                    </m:sSup>
                    <m:r>
                      <a:rPr lang="en-US" b="0" i="1" smtClean="0">
                        <a:latin typeface="Cambria Math"/>
                        <a:ea typeface="Cambria Math"/>
                      </a:rPr>
                      <m:t>:</m:t>
                    </m:r>
                  </m:oMath>
                </a14:m>
                <a:endParaRPr lang="en-US" b="0" i="1" dirty="0">
                  <a:latin typeface="Cambria Math"/>
                  <a:ea typeface="Cambria Math"/>
                </a:endParaRP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m:t>
                        </m:r>
                        <m:r>
                          <a:rPr lang="en-US" b="0" i="1" smtClean="0">
                            <a:latin typeface="Cambria Math"/>
                          </a:rPr>
                          <m:t>𝐸𝑛𝑐</m:t>
                        </m:r>
                        <m:d>
                          <m:dPr>
                            <m:ctrlPr>
                              <a:rPr lang="en-US" b="0" i="1" smtClean="0">
                                <a:latin typeface="Cambria Math" panose="02040503050406030204" pitchFamily="18" charset="0"/>
                              </a:rPr>
                            </m:ctrlPr>
                          </m:dPr>
                          <m:e>
                            <m:r>
                              <a:rPr lang="en-US" b="0" i="1" smtClean="0">
                                <a:latin typeface="Cambria Math"/>
                              </a:rPr>
                              <m:t>𝑚</m:t>
                            </m:r>
                            <m:r>
                              <a:rPr lang="en-US" b="0" i="1" smtClean="0">
                                <a:latin typeface="Cambria Math"/>
                              </a:rPr>
                              <m:t>,</m:t>
                            </m:r>
                            <m:r>
                              <a:rPr lang="en-US" b="0" i="1" smtClean="0">
                                <a:latin typeface="Cambria Math"/>
                              </a:rPr>
                              <m:t>𝑘</m:t>
                            </m:r>
                          </m:e>
                        </m:d>
                        <m:r>
                          <a:rPr lang="en-US" b="0" i="1" smtClean="0">
                            <a:latin typeface="Cambria Math"/>
                          </a:rPr>
                          <m:t>}</m:t>
                        </m:r>
                      </m:e>
                      <m:sub>
                        <m:r>
                          <a:rPr lang="en-US" b="0" i="1" smtClean="0">
                            <a:latin typeface="Cambria Math"/>
                          </a:rPr>
                          <m:t>𝑘</m:t>
                        </m:r>
                        <m:r>
                          <a:rPr lang="en-US" b="0" i="1" smtClean="0">
                            <a:latin typeface="Cambria Math"/>
                          </a:rPr>
                          <m:t>→</m:t>
                        </m:r>
                        <m:r>
                          <a:rPr lang="en-US" b="0" i="1" smtClean="0">
                            <a:latin typeface="Cambria Math"/>
                          </a:rPr>
                          <m:t>𝐾𝑒𝑦𝑔𝑒𝑛</m:t>
                        </m:r>
                      </m:sub>
                    </m:sSub>
                  </m:oMath>
                </a14:m>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m:t>
                        </m:r>
                        <m:r>
                          <a:rPr lang="en-US" b="0" i="1" smtClean="0">
                            <a:latin typeface="Cambria Math"/>
                          </a:rPr>
                          <m:t>𝐸𝑛𝑐</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𝑚</m:t>
                                </m:r>
                              </m:e>
                              <m:sub/>
                              <m:sup>
                                <m:r>
                                  <a:rPr lang="en-US" b="0" i="1" smtClean="0">
                                    <a:latin typeface="Cambria Math"/>
                                  </a:rPr>
                                  <m:t>′</m:t>
                                </m:r>
                              </m:sup>
                            </m:sSubSup>
                            <m:r>
                              <a:rPr lang="en-US" b="0" i="1" smtClean="0">
                                <a:latin typeface="Cambria Math"/>
                              </a:rPr>
                              <m:t>,</m:t>
                            </m:r>
                            <m:r>
                              <a:rPr lang="en-US" b="0" i="1" smtClean="0">
                                <a:latin typeface="Cambria Math"/>
                              </a:rPr>
                              <m:t>𝑘</m:t>
                            </m:r>
                          </m:e>
                        </m:d>
                        <m:r>
                          <a:rPr lang="en-US" b="0" i="1" smtClean="0">
                            <a:latin typeface="Cambria Math"/>
                          </a:rPr>
                          <m:t>}</m:t>
                        </m:r>
                      </m:e>
                      <m:sub>
                        <m:r>
                          <a:rPr lang="en-US" b="0" i="1" smtClean="0">
                            <a:latin typeface="Cambria Math"/>
                          </a:rPr>
                          <m:t>𝑘</m:t>
                        </m:r>
                        <m:r>
                          <a:rPr lang="en-US" b="0" i="1" smtClean="0">
                            <a:latin typeface="Cambria Math"/>
                          </a:rPr>
                          <m:t>→</m:t>
                        </m:r>
                        <m:r>
                          <a:rPr lang="en-US" b="0" i="1" smtClean="0">
                            <a:latin typeface="Cambria Math"/>
                          </a:rPr>
                          <m:t>𝐾𝑒𝑦𝑔𝑒𝑛</m:t>
                        </m:r>
                      </m:sub>
                    </m:sSub>
                  </m:oMath>
                </a14:m>
                <a:endParaRPr lang="en-US" dirty="0"/>
              </a:p>
              <a:p>
                <a:pPr lvl="1"/>
                <a:r>
                  <a:rPr lang="en-US" dirty="0"/>
                  <a:t>H(m) = H(</a:t>
                </a:r>
                <a:r>
                  <a:rPr lang="en-US" dirty="0" err="1"/>
                  <a:t>m|c</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534400" cy="4525963"/>
              </a:xfrm>
              <a:blipFill rotWithShape="1">
                <a:blip r:embed="rId3"/>
                <a:stretch>
                  <a:fillRect l="-1571" t="-1752"/>
                </a:stretch>
              </a:blipFill>
            </p:spPr>
            <p:txBody>
              <a:bodyPr/>
              <a:lstStyle/>
              <a:p>
                <a:r>
                  <a:rPr lang="en-US">
                    <a:noFill/>
                  </a:rPr>
                  <a:t> </a:t>
                </a:r>
              </a:p>
            </p:txBody>
          </p:sp>
        </mc:Fallback>
      </mc:AlternateContent>
      <p:sp>
        <p:nvSpPr>
          <p:cNvPr id="4" name="AutoShape 2" descr="data:image/jpeg;base64,/9j/4AAQSkZJRgABAQAAAQABAAD/2wCEAAkGBxQSEhUUEhQVFRMUFRQVFBQVFhAUFRQUFBQWFhQVFBQYHCggGBolHBQUITEhJSkrLi4uFx8zODMsNygtLjcBCgoKBQUFDgUFDisZExkrKysrKysrKysrKysrKysrKysrKysrKysrKysrKysrKysrKysrKysrKysrKysrKysrK//AABEIAPQArAMBIgACEQEDEQH/xAAbAAACAgMBAAAAAAAAAAAAAAADBAIFAQYHAP/EADcQAAEDAwIDBwIGAgICAwAAAAEAAhEDBCEFMRJBUQYTImFxgZGhsQcywdHh8BRCYnJS8RYjJP/EABQBAQAAAAAAAAAAAAAAAAAAAAD/xAAUEQEAAAAAAAAAAAAAAAAAAAAA/9oADAMBAAIRAxEAPwCmqUUN1BWrqSGaSCpfbpepaq7dS8kN1JBQVLVAfQWwPoperbYQa6+ihupq4q28Jd1LyQVbmKBanalNBexArCwGplzEItQDWCpkLBQQC9KzCyAggVhTC8Qg8CsOWWLDkGGrMrwWWhB1h1JD4Ey5DhAt3ag9vRM93Kz3KCufSQ3U1YGihuYgqa9FV15DcuIHqf0VjrV4KLCeZ/KPNaNWrF7i5xklA7c6iNmj3Szqrj/CCAm7SQce6BQvcpsqlWLqUg4AQzaCMIAxPMKJCi623jluoUnZQELVjhUgflYIQQK9CkVGUEYXlIBRcEGFJYAUuFB10iVgBEcOSxCCAaisx0+FhrEbuUCdUJeo7yT9xTjktd7T3Zp0yB+Y4HvzQar2quw+rAMhojynmqQK907QzUEuO6v7XsY13VBo7XQmrZ5OJEn2W9Uvw/DjuYVk78NqZ2n1QaG2zdGUGu8MBAMk/C3at+Hz24a4x0IlC/8AgdXmR8fyg0e1ZGTzysVg0mY5FbtU7FkAlzvotXvtM7tzm8wfkIKPiIKZiQg12Q5HtMgjogE5RKZexCLUA1Ir0LCDBavQshZKDshWGtWXjKI1iDzG5ymAAFAMU2zyQArZ/bouddpbrjueAbNj5K6PVB6Ll2qti8d/2H1AQbhotvgey22gwAYVFotIQPZbJTZhA9Zwre1EjZU9g3G3VXNsC0e6CZpgoF1b4MIwKhXf9kGt6ntC5f2uowSZjK6nfN4iZWg9s7chs8MoOc1HE5KNYHxeyxdUwCeHbCxYYePhA69qXc1OvYl3tQLFqg4I5aoFiAMrKy5qwAg7OpMaEOCisCA4fhYLvX08l6FF4PJBF+3t1XP+0NtF413IgH4K35zFo/ayq4VG+HbYoNv0dkNBnotlsHA4281xyjrVdrZBgdE9p/bGq3DoPp/fVB2a3icK2okRMzHstC7La3/kERvG3mgdpNRrs4msJaRzPKUG+V71gkyMc0gNRpuJAeCfULjAr3LnEGo5/MhucfonLO4pADjNRkzDuHHhMHY4QdJuRkwRCqNWoB7TI2+iX0+2JDX0q3H9QQrWuzEnBI280HGtTtIe4Drj0lL6XYPfWAA2k88eq21uld5ckHaT6RK2ypYtDeGkAABDjzKDnV1bFhgx7JN7VtOsUBweYctdrU0CJCgQmHMQnNQLOCGWo71DhQdkjKLTYhtCKzogM1qg9iJSUmt6nf6ZwgX7vC1ftPSktkcwtrdA5qi16iS2dyCD8INb0rTgKvE8T05/RP19GZndwMkAgAAkRP2Vvp9Br2gxkK0qAAZAx5boK/8ADu17u4gZA9t10TtNprajciZEELSex5//AFT6/ddOuDCDmFLTHUHkBkgzPmDyMI2ndn6YLj3cOfuenVdDq02uyQPoguIaMfog16w0OnTHgbHX1S9/stlr1hEAZK1TWapHqUFOaHE4xjBSt1b1GjvGuPAcObyVlpzt+u0BRvq4azhk8M8/2Qatq7obHUqgflWeq1+NxjAGFVvQBexLVGptyDUCBF6gmXtQSxB2GURoSrHogqIGmDzROLzH9CUZUUpQSelLls45JglBeEFTbVu7eW/Honq1fiaSD6pDUmDiafZY4sGOiC+7AUyapJ/uV0LU9xOxXFNG1Ovb1DwAEO5HBHotwo3N/Vc1zC0A8nSfrKDbaNVw4huOqg65MQf7KfsLcspta4guOXHlJ3hJXjQHTCBOvcErXtRJJPNbBeuAaVQ12wDKCpq6lSpQKk8Tj4YVPf3YIIZOdySSUXVGBxBI2OFX1IQJ1AlXNTz0s7coE3BL1HJuoUpVCABKgUVzUMoOoMcjMCSL0Zj0DTEeJSof/KI1yAjsILnKJKg5yBPVGSwnpkeyqG34a2TsSr6oeRVBUp928tI8L8g9D0QWuh6jbOqgOqNb0naei3XTdetqQ4HVmcQJgb/Zctovc0mKbHj/AJY/RX+h6q+mfBQpsnmQD9IQbvc9p2PBFMlx5BoJSllqzqh8TXNzs4ZULO8nJGSeWB8KV1VyDsgcu64Pp+617VrqBA5lEu74N35KspN7xxedv9QgTvcNyq1+Vsf+FxktOwaSfYLUKN4OIsO4JHwUBKjUs9qaqOQXFAk9qA5qbcEtUQLlqGWpghDDEG+h6m16XlTBQNscmZIGyrWPKOyoUBy9Bc9Y4v7KBUqQgm56XuWcTY57jyKBdX7W7lVNz2iaJjKC/wBEYwkSBvkc/Rbzp1zSksLQPhclFy7w1WGC7foYR29oazTMSfJB1y5dS5QPOFq+uaw1p4WrVaOt3FUQBwzuTlWljosw5xl3MlBi0puqul2Gq7c0AABDZb8MAfbdbVoGgxFSqM7tb08ygRZY9zbPqP8AzOaSfIRgLiVy/iqOdtkn6rrn4nazDO5YcnLvRcjdRI90B2XhbvkIzLoFKPpktyEEVIwRlBaPdKAR0StG9jB2TDnSMIIOCGSpucoB3kg3AOypNelg9RfVgZQP03rJuAMla/dawG7KnudVe/yCDZdQ1pjfX1VBea6535cBVkSZKwQgjXrOduZQmhGhDQbt2XtRWtuHnJgoQsTTfwvGQU9+Fzg9z6ZOdwugdodAp1KReSGOYJ4j5dUGtabYiA7kFfWNoajuGmJ+w9TyVd2IsHXBc2YYw5dvPoOq6ZYWbKTOFggfU+p5oK7SdCZS8TvE/wCg9FDtRrDbai5535eZVtcVgxpJXFu3+umvWLQf/rpmIHNyCk1O5dWcajp8RJlVTmHlyKtGeJsbIJonYQgB3hA8WyRuIknqMJ27Ebqu1F0NwZQKcclFZW4TnZCt2GPNZe2UDw8l4pKjULfRNsqAjdBsXeql1e9OwVga2CqC58RJQKOyiNQ2o1MIJjZREKTmoUxhBF5XuFZJWW7ILnsPqHcXbDydg+63j8Q9ZeYY0kMbBeBzO65xoLT/AJFH/u37rrHaTT21aReBzz7Qgj+GGtjveCIbVETP+wyF1NxMYXAbK5I4XU4Y6m6R58J/Vdr0rUBWpMqjZzQT5GM/VBXdrbt1Ki+o4iGjAHXb9Vw0vL3knmZ9V0X8VdZkCgOfid6DYLn9s0CCB0QHa7wzPkgO6jHXllSuKkZ68uiSbUzkwD7oPXs7SMH3SuoU/CPVZu6kZJ/lDrXBqQIgYhAOlKOWQPZSptgZ/dQqSBPL5lArVQg0jmmiyZj1UOADmgsa1xDVW8cysXlbklrWpGCgnREynKbEtajxQnXiEAyEvW3lM7oNUQgFyWYWQ1Tagd0TFxTP/L7LqHanUe7tQxp8VQjPQcyVy7S2HvQRmAT9Fa1tRNWm4Ey7/X22QS05xmCZaeKT6bLqHYe5LbdzTPDktPqcj5lcwsnBtAN/23Pr0VxpfaV1KycAPEHu35ByCo7X6ka1zUdsAYHoFW0rgDnlKOcS4uPUn1JyhB+cc5QWhdO+8/ASd5c8GRuDHqstfA64CWrniEdSgXptNR0nborJtDh9vqhUGtbiYOZUv8zz2xBQGZ1xnEKNUBuNz09N56IJqTmcKL64GPugjUdjO55DAH7qPfDoFgXDFLux0QJXRyvMAIUOOSpGmRkIJ27oerR4geqpqL/ErgZCALSgVFKcrzighS2lZD4WWjCA9BcaNXyY3OEegO5e5pyZ38ilLI90Gu/8hlSuyXuDxts5BmzJNXh/1Bn2TWuXQDOFuA4/ZZuCO68P5m5nqqPUahc1pOxJgeaBmg4EfupwI80nbv2TNVwgRsCP76II1XwISr6vD+/nzWbipnzP9lL10EWPJMo9MEiTnoOqA0Ab58kY3J2GIQMd2525gD3KDVaAdnH6LDLpw2H8qT7h7t2hBBtwBsz5WOF7s/wiCpU6D4QzUf5oB025yjNqcPovVHhZDhCAIPiVm14hVLN8J9plBCYJWXITPzFEKDLSgPIyirFGmHVGg7EiUD1GmarIGzRPwmKNy00yzkefml6tXunlg2+6F3XC7iOxyEDOnmHePAHLqktXcHP8O26nqd3xwRggKva07n3QZZvhH75AI/vkoVXckEjUn/3yQ6jsrzVI0+ZQHtXs2cmxatOQOaUhkDqjW9QMB8U+Xmgc4A0YwPugOrAT/YWH3jT5oZuW7oI16p5fKgKTjlTqXLeQQf8AKPJBKqxBcwhOkpaq4oAUjlWDFWs3yrBpwgFTOSjpemfEmGtKD0pYvh09EzChZNBf4toQHd4m8R/MNvRQNxxt4fr0Qary10Dbks1afCJbsd0AamDHRZJUIWWhBio5DDCcBTaziP8Adk/RodN0AG20DOUdsHGOcKYpZ3nCJ3cDPyggGt5NH0Q3UmwSWj12RSPIIHFuN0AZp5wR5IbmDrCw+kUHgJ5ICvYOq9xNUTRPNeDQgeeIQC1ZXkC9cZTNM4Xl5Bin+YJ6oF5eQCAmUoTDsLy8gZq0hwTzSIqGIlYXkEws1Nl5eQMWbAm6xgGOsLy8grnPI58kVld3VeXkGX1iln1CvLyDJrEKHfFeXkEA4k5KI7CwvIP/2Q=="/>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QSEhUUEhQVFRMUFRQVFBQVFhAUFRQUFBQWFhQVFBQYHCggGBolHBQUITEhJSkrLi4uFx8zODMsNygtLjcBCgoKBQUFDgUFDisZExkrKysrKysrKysrKysrKysrKysrKysrKysrKysrKysrKysrKysrKysrKysrKysrKysrK//AABEIAPQArAMBIgACEQEDEQH/xAAbAAACAgMBAAAAAAAAAAAAAAADBAIFAQYHAP/EADcQAAEDAwIDBwIGAgICAwAAAAEAAhEDBCEFMRJBUQYTImFxgZGhsQcywdHh8BRCYnJS8RYjJP/EABQBAQAAAAAAAAAAAAAAAAAAAAD/xAAUEQEAAAAAAAAAAAAAAAAAAAAA/9oADAMBAAIRAxEAPwCmqUUN1BWrqSGaSCpfbpepaq7dS8kN1JBQVLVAfQWwPoperbYQa6+ihupq4q28Jd1LyQVbmKBanalNBexArCwGplzEItQDWCpkLBQQC9KzCyAggVhTC8Qg8CsOWWLDkGGrMrwWWhB1h1JD4Ey5DhAt3ag9vRM93Kz3KCufSQ3U1YGihuYgqa9FV15DcuIHqf0VjrV4KLCeZ/KPNaNWrF7i5xklA7c6iNmj3Szqrj/CCAm7SQce6BQvcpsqlWLqUg4AQzaCMIAxPMKJCi623jluoUnZQELVjhUgflYIQQK9CkVGUEYXlIBRcEGFJYAUuFB10iVgBEcOSxCCAaisx0+FhrEbuUCdUJeo7yT9xTjktd7T3Zp0yB+Y4HvzQar2quw+rAMhojynmqQK907QzUEuO6v7XsY13VBo7XQmrZ5OJEn2W9Uvw/DjuYVk78NqZ2n1QaG2zdGUGu8MBAMk/C3at+Hz24a4x0IlC/8AgdXmR8fyg0e1ZGTzysVg0mY5FbtU7FkAlzvotXvtM7tzm8wfkIKPiIKZiQg12Q5HtMgjogE5RKZexCLUA1Ir0LCDBavQshZKDshWGtWXjKI1iDzG5ymAAFAMU2zyQArZ/bouddpbrjueAbNj5K6PVB6Ll2qti8d/2H1AQbhotvgey22gwAYVFotIQPZbJTZhA9Zwre1EjZU9g3G3VXNsC0e6CZpgoF1b4MIwKhXf9kGt6ntC5f2uowSZjK6nfN4iZWg9s7chs8MoOc1HE5KNYHxeyxdUwCeHbCxYYePhA69qXc1OvYl3tQLFqg4I5aoFiAMrKy5qwAg7OpMaEOCisCA4fhYLvX08l6FF4PJBF+3t1XP+0NtF413IgH4K35zFo/ayq4VG+HbYoNv0dkNBnotlsHA4281xyjrVdrZBgdE9p/bGq3DoPp/fVB2a3icK2okRMzHstC7La3/kERvG3mgdpNRrs4msJaRzPKUG+V71gkyMc0gNRpuJAeCfULjAr3LnEGo5/MhucfonLO4pADjNRkzDuHHhMHY4QdJuRkwRCqNWoB7TI2+iX0+2JDX0q3H9QQrWuzEnBI280HGtTtIe4Drj0lL6XYPfWAA2k88eq21uld5ckHaT6RK2ypYtDeGkAABDjzKDnV1bFhgx7JN7VtOsUBweYctdrU0CJCgQmHMQnNQLOCGWo71DhQdkjKLTYhtCKzogM1qg9iJSUmt6nf6ZwgX7vC1ftPSktkcwtrdA5qi16iS2dyCD8INb0rTgKvE8T05/RP19GZndwMkAgAAkRP2Vvp9Br2gxkK0qAAZAx5boK/8ADu17u4gZA9t10TtNprajciZEELSex5//AFT6/ddOuDCDmFLTHUHkBkgzPmDyMI2ndn6YLj3cOfuenVdDq02uyQPoguIaMfog16w0OnTHgbHX1S9/stlr1hEAZK1TWapHqUFOaHE4xjBSt1b1GjvGuPAcObyVlpzt+u0BRvq4azhk8M8/2Qatq7obHUqgflWeq1+NxjAGFVvQBexLVGptyDUCBF6gmXtQSxB2GURoSrHogqIGmDzROLzH9CUZUUpQSelLls45JglBeEFTbVu7eW/Honq1fiaSD6pDUmDiafZY4sGOiC+7AUyapJ/uV0LU9xOxXFNG1Ovb1DwAEO5HBHotwo3N/Vc1zC0A8nSfrKDbaNVw4huOqg65MQf7KfsLcspta4guOXHlJ3hJXjQHTCBOvcErXtRJJPNbBeuAaVQ12wDKCpq6lSpQKk8Tj4YVPf3YIIZOdySSUXVGBxBI2OFX1IQJ1AlXNTz0s7coE3BL1HJuoUpVCABKgUVzUMoOoMcjMCSL0Zj0DTEeJSof/KI1yAjsILnKJKg5yBPVGSwnpkeyqG34a2TsSr6oeRVBUp928tI8L8g9D0QWuh6jbOqgOqNb0naei3XTdetqQ4HVmcQJgb/Zctovc0mKbHj/AJY/RX+h6q+mfBQpsnmQD9IQbvc9p2PBFMlx5BoJSllqzqh8TXNzs4ZULO8nJGSeWB8KV1VyDsgcu64Pp+617VrqBA5lEu74N35KspN7xxedv9QgTvcNyq1+Vsf+FxktOwaSfYLUKN4OIsO4JHwUBKjUs9qaqOQXFAk9qA5qbcEtUQLlqGWpghDDEG+h6m16XlTBQNscmZIGyrWPKOyoUBy9Bc9Y4v7KBUqQgm56XuWcTY57jyKBdX7W7lVNz2iaJjKC/wBEYwkSBvkc/Rbzp1zSksLQPhclFy7w1WGC7foYR29oazTMSfJB1y5dS5QPOFq+uaw1p4WrVaOt3FUQBwzuTlWljosw5xl3MlBi0puqul2Gq7c0AABDZb8MAfbdbVoGgxFSqM7tb08ygRZY9zbPqP8AzOaSfIRgLiVy/iqOdtkn6rrn4nazDO5YcnLvRcjdRI90B2XhbvkIzLoFKPpktyEEVIwRlBaPdKAR0StG9jB2TDnSMIIOCGSpucoB3kg3AOypNelg9RfVgZQP03rJuAMla/dawG7KnudVe/yCDZdQ1pjfX1VBea6535cBVkSZKwQgjXrOduZQmhGhDQbt2XtRWtuHnJgoQsTTfwvGQU9+Fzg9z6ZOdwugdodAp1KReSGOYJ4j5dUGtabYiA7kFfWNoajuGmJ+w9TyVd2IsHXBc2YYw5dvPoOq6ZYWbKTOFggfU+p5oK7SdCZS8TvE/wCg9FDtRrDbai5535eZVtcVgxpJXFu3+umvWLQf/rpmIHNyCk1O5dWcajp8RJlVTmHlyKtGeJsbIJonYQgB3hA8WyRuIknqMJ27Ebqu1F0NwZQKcclFZW4TnZCt2GPNZe2UDw8l4pKjULfRNsqAjdBsXeql1e9OwVga2CqC58RJQKOyiNQ2o1MIJjZREKTmoUxhBF5XuFZJWW7ILnsPqHcXbDydg+63j8Q9ZeYY0kMbBeBzO65xoLT/AJFH/u37rrHaTT21aReBzz7Qgj+GGtjveCIbVETP+wyF1NxMYXAbK5I4XU4Y6m6R58J/Vdr0rUBWpMqjZzQT5GM/VBXdrbt1Ki+o4iGjAHXb9Vw0vL3knmZ9V0X8VdZkCgOfid6DYLn9s0CCB0QHa7wzPkgO6jHXllSuKkZ68uiSbUzkwD7oPXs7SMH3SuoU/CPVZu6kZJ/lDrXBqQIgYhAOlKOWQPZSptgZ/dQqSBPL5lArVQg0jmmiyZj1UOADmgsa1xDVW8cysXlbklrWpGCgnREynKbEtajxQnXiEAyEvW3lM7oNUQgFyWYWQ1Tagd0TFxTP/L7LqHanUe7tQxp8VQjPQcyVy7S2HvQRmAT9Fa1tRNWm4Ey7/X22QS05xmCZaeKT6bLqHYe5LbdzTPDktPqcj5lcwsnBtAN/23Pr0VxpfaV1KycAPEHu35ByCo7X6ka1zUdsAYHoFW0rgDnlKOcS4uPUn1JyhB+cc5QWhdO+8/ASd5c8GRuDHqstfA64CWrniEdSgXptNR0nborJtDh9vqhUGtbiYOZUv8zz2xBQGZ1xnEKNUBuNz09N56IJqTmcKL64GPugjUdjO55DAH7qPfDoFgXDFLux0QJXRyvMAIUOOSpGmRkIJ27oerR4geqpqL/ErgZCALSgVFKcrzighS2lZD4WWjCA9BcaNXyY3OEegO5e5pyZ38ilLI90Gu/8hlSuyXuDxts5BmzJNXh/1Bn2TWuXQDOFuA4/ZZuCO68P5m5nqqPUahc1pOxJgeaBmg4EfupwI80nbv2TNVwgRsCP76II1XwISr6vD+/nzWbipnzP9lL10EWPJMo9MEiTnoOqA0Ab58kY3J2GIQMd2525gD3KDVaAdnH6LDLpw2H8qT7h7t2hBBtwBsz5WOF7s/wiCpU6D4QzUf5oB025yjNqcPovVHhZDhCAIPiVm14hVLN8J9plBCYJWXITPzFEKDLSgPIyirFGmHVGg7EiUD1GmarIGzRPwmKNy00yzkefml6tXunlg2+6F3XC7iOxyEDOnmHePAHLqktXcHP8O26nqd3xwRggKva07n3QZZvhH75AI/vkoVXckEjUn/3yQ6jsrzVI0+ZQHtXs2cmxatOQOaUhkDqjW9QMB8U+Xmgc4A0YwPugOrAT/YWH3jT5oZuW7oI16p5fKgKTjlTqXLeQQf8AKPJBKqxBcwhOkpaq4oAUjlWDFWs3yrBpwgFTOSjpemfEmGtKD0pYvh09EzChZNBf4toQHd4m8R/MNvRQNxxt4fr0Qary10Dbks1afCJbsd0AamDHRZJUIWWhBio5DDCcBTaziP8Adk/RodN0AG20DOUdsHGOcKYpZ3nCJ3cDPyggGt5NH0Q3UmwSWj12RSPIIHFuN0AZp5wR5IbmDrCw+kUHgJ5ICvYOq9xNUTRPNeDQgeeIQC1ZXkC9cZTNM4Xl5Bin+YJ6oF5eQCAmUoTDsLy8gZq0hwTzSIqGIlYXkEws1Nl5eQMWbAm6xgGOsLy8grnPI58kVld3VeXkGX1iln1CvLyDJrEKHfFeXkEA4k5KI7CwvIP/2Q=="/>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QSEhUUEhQVFRMUFRQVFBQVFhAUFRQUFBQWFhQVFBQYHCggGBolHBQUITEhJSkrLi4uFx8zODMsNygtLjcBCgoKBQUFDgUFDisZExkrKysrKysrKysrKysrKysrKysrKysrKysrKysrKysrKysrKysrKysrKysrKysrKysrK//AABEIAPQArAMBIgACEQEDEQH/xAAbAAACAgMBAAAAAAAAAAAAAAADBAIFAQYHAP/EADcQAAEDAwIDBwIGAgICAwAAAAEAAhEDBCEFMRJBUQYTImFxgZGhsQcywdHh8BRCYnJS8RYjJP/EABQBAQAAAAAAAAAAAAAAAAAAAAD/xAAUEQEAAAAAAAAAAAAAAAAAAAAA/9oADAMBAAIRAxEAPwCmqUUN1BWrqSGaSCpfbpepaq7dS8kN1JBQVLVAfQWwPoperbYQa6+ihupq4q28Jd1LyQVbmKBanalNBexArCwGplzEItQDWCpkLBQQC9KzCyAggVhTC8Qg8CsOWWLDkGGrMrwWWhB1h1JD4Ey5DhAt3ag9vRM93Kz3KCufSQ3U1YGihuYgqa9FV15DcuIHqf0VjrV4KLCeZ/KPNaNWrF7i5xklA7c6iNmj3Szqrj/CCAm7SQce6BQvcpsqlWLqUg4AQzaCMIAxPMKJCi623jluoUnZQELVjhUgflYIQQK9CkVGUEYXlIBRcEGFJYAUuFB10iVgBEcOSxCCAaisx0+FhrEbuUCdUJeo7yT9xTjktd7T3Zp0yB+Y4HvzQar2quw+rAMhojynmqQK907QzUEuO6v7XsY13VBo7XQmrZ5OJEn2W9Uvw/DjuYVk78NqZ2n1QaG2zdGUGu8MBAMk/C3at+Hz24a4x0IlC/8AgdXmR8fyg0e1ZGTzysVg0mY5FbtU7FkAlzvotXvtM7tzm8wfkIKPiIKZiQg12Q5HtMgjogE5RKZexCLUA1Ir0LCDBavQshZKDshWGtWXjKI1iDzG5ymAAFAMU2zyQArZ/bouddpbrjueAbNj5K6PVB6Ll2qti8d/2H1AQbhotvgey22gwAYVFotIQPZbJTZhA9Zwre1EjZU9g3G3VXNsC0e6CZpgoF1b4MIwKhXf9kGt6ntC5f2uowSZjK6nfN4iZWg9s7chs8MoOc1HE5KNYHxeyxdUwCeHbCxYYePhA69qXc1OvYl3tQLFqg4I5aoFiAMrKy5qwAg7OpMaEOCisCA4fhYLvX08l6FF4PJBF+3t1XP+0NtF413IgH4K35zFo/ayq4VG+HbYoNv0dkNBnotlsHA4281xyjrVdrZBgdE9p/bGq3DoPp/fVB2a3icK2okRMzHstC7La3/kERvG3mgdpNRrs4msJaRzPKUG+V71gkyMc0gNRpuJAeCfULjAr3LnEGo5/MhucfonLO4pADjNRkzDuHHhMHY4QdJuRkwRCqNWoB7TI2+iX0+2JDX0q3H9QQrWuzEnBI280HGtTtIe4Drj0lL6XYPfWAA2k88eq21uld5ckHaT6RK2ypYtDeGkAABDjzKDnV1bFhgx7JN7VtOsUBweYctdrU0CJCgQmHMQnNQLOCGWo71DhQdkjKLTYhtCKzogM1qg9iJSUmt6nf6ZwgX7vC1ftPSktkcwtrdA5qi16iS2dyCD8INb0rTgKvE8T05/RP19GZndwMkAgAAkRP2Vvp9Br2gxkK0qAAZAx5boK/8ADu17u4gZA9t10TtNprajciZEELSex5//AFT6/ddOuDCDmFLTHUHkBkgzPmDyMI2ndn6YLj3cOfuenVdDq02uyQPoguIaMfog16w0OnTHgbHX1S9/stlr1hEAZK1TWapHqUFOaHE4xjBSt1b1GjvGuPAcObyVlpzt+u0BRvq4azhk8M8/2Qatq7obHUqgflWeq1+NxjAGFVvQBexLVGptyDUCBF6gmXtQSxB2GURoSrHogqIGmDzROLzH9CUZUUpQSelLls45JglBeEFTbVu7eW/Honq1fiaSD6pDUmDiafZY4sGOiC+7AUyapJ/uV0LU9xOxXFNG1Ovb1DwAEO5HBHotwo3N/Vc1zC0A8nSfrKDbaNVw4huOqg65MQf7KfsLcspta4guOXHlJ3hJXjQHTCBOvcErXtRJJPNbBeuAaVQ12wDKCpq6lSpQKk8Tj4YVPf3YIIZOdySSUXVGBxBI2OFX1IQJ1AlXNTz0s7coE3BL1HJuoUpVCABKgUVzUMoOoMcjMCSL0Zj0DTEeJSof/KI1yAjsILnKJKg5yBPVGSwnpkeyqG34a2TsSr6oeRVBUp928tI8L8g9D0QWuh6jbOqgOqNb0naei3XTdetqQ4HVmcQJgb/Zctovc0mKbHj/AJY/RX+h6q+mfBQpsnmQD9IQbvc9p2PBFMlx5BoJSllqzqh8TXNzs4ZULO8nJGSeWB8KV1VyDsgcu64Pp+617VrqBA5lEu74N35KspN7xxedv9QgTvcNyq1+Vsf+FxktOwaSfYLUKN4OIsO4JHwUBKjUs9qaqOQXFAk9qA5qbcEtUQLlqGWpghDDEG+h6m16XlTBQNscmZIGyrWPKOyoUBy9Bc9Y4v7KBUqQgm56XuWcTY57jyKBdX7W7lVNz2iaJjKC/wBEYwkSBvkc/Rbzp1zSksLQPhclFy7w1WGC7foYR29oazTMSfJB1y5dS5QPOFq+uaw1p4WrVaOt3FUQBwzuTlWljosw5xl3MlBi0puqul2Gq7c0AABDZb8MAfbdbVoGgxFSqM7tb08ygRZY9zbPqP8AzOaSfIRgLiVy/iqOdtkn6rrn4nazDO5YcnLvRcjdRI90B2XhbvkIzLoFKPpktyEEVIwRlBaPdKAR0StG9jB2TDnSMIIOCGSpucoB3kg3AOypNelg9RfVgZQP03rJuAMla/dawG7KnudVe/yCDZdQ1pjfX1VBea6535cBVkSZKwQgjXrOduZQmhGhDQbt2XtRWtuHnJgoQsTTfwvGQU9+Fzg9z6ZOdwugdodAp1KReSGOYJ4j5dUGtabYiA7kFfWNoajuGmJ+w9TyVd2IsHXBc2YYw5dvPoOq6ZYWbKTOFggfU+p5oK7SdCZS8TvE/wCg9FDtRrDbai5535eZVtcVgxpJXFu3+umvWLQf/rpmIHNyCk1O5dWcajp8RJlVTmHlyKtGeJsbIJonYQgB3hA8WyRuIknqMJ27Ebqu1F0NwZQKcclFZW4TnZCt2GPNZe2UDw8l4pKjULfRNsqAjdBsXeql1e9OwVga2CqC58RJQKOyiNQ2o1MIJjZREKTmoUxhBF5XuFZJWW7ILnsPqHcXbDydg+63j8Q9ZeYY0kMbBeBzO65xoLT/AJFH/u37rrHaTT21aReBzz7Qgj+GGtjveCIbVETP+wyF1NxMYXAbK5I4XU4Y6m6R58J/Vdr0rUBWpMqjZzQT5GM/VBXdrbt1Ki+o4iGjAHXb9Vw0vL3knmZ9V0X8VdZkCgOfid6DYLn9s0CCB0QHa7wzPkgO6jHXllSuKkZ68uiSbUzkwD7oPXs7SMH3SuoU/CPVZu6kZJ/lDrXBqQIgYhAOlKOWQPZSptgZ/dQqSBPL5lArVQg0jmmiyZj1UOADmgsa1xDVW8cysXlbklrWpGCgnREynKbEtajxQnXiEAyEvW3lM7oNUQgFyWYWQ1Tagd0TFxTP/L7LqHanUe7tQxp8VQjPQcyVy7S2HvQRmAT9Fa1tRNWm4Ey7/X22QS05xmCZaeKT6bLqHYe5LbdzTPDktPqcj5lcwsnBtAN/23Pr0VxpfaV1KycAPEHu35ByCo7X6ka1zUdsAYHoFW0rgDnlKOcS4uPUn1JyhB+cc5QWhdO+8/ASd5c8GRuDHqstfA64CWrniEdSgXptNR0nborJtDh9vqhUGtbiYOZUv8zz2xBQGZ1xnEKNUBuNz09N56IJqTmcKL64GPugjUdjO55DAH7qPfDoFgXDFLux0QJXRyvMAIUOOSpGmRkIJ27oerR4geqpqL/ErgZCALSgVFKcrzighS2lZD4WWjCA9BcaNXyY3OEegO5e5pyZ38ilLI90Gu/8hlSuyXuDxts5BmzJNXh/1Bn2TWuXQDOFuA4/ZZuCO68P5m5nqqPUahc1pOxJgeaBmg4EfupwI80nbv2TNVwgRsCP76II1XwISr6vD+/nzWbipnzP9lL10EWPJMo9MEiTnoOqA0Ab58kY3J2GIQMd2525gD3KDVaAdnH6LDLpw2H8qT7h7t2hBBtwBsz5WOF7s/wiCpU6D4QzUf5oB025yjNqcPovVHhZDhCAIPiVm14hVLN8J9plBCYJWXITPzFEKDLSgPIyirFGmHVGg7EiUD1GmarIGzRPwmKNy00yzkefml6tXunlg2+6F3XC7iOxyEDOnmHePAHLqktXcHP8O26nqd3xwRggKva07n3QZZvhH75AI/vkoVXckEjUn/3yQ6jsrzVI0+ZQHtXs2cmxatOQOaUhkDqjW9QMB8U+Xmgc4A0YwPugOrAT/YWH3jT5oZuW7oI16p5fKgKTjlTqXLeQQf8AKPJBKqxBcwhOkpaq4oAUjlWDFWs3yrBpwgFTOSjpemfEmGtKD0pYvh09EzChZNBf4toQHd4m8R/MNvRQNxxt4fr0Qary10Dbks1afCJbsd0AamDHRZJUIWWhBio5DDCcBTaziP8Adk/RodN0AG20DOUdsHGOcKYpZ3nCJ3cDPyggGt5NH0Q3UmwSWj12RSPIIHFuN0AZp5wR5IbmDrCw+kUHgJ5ICvYOq9xNUTRPNeDQgeeIQC1ZXkC9cZTNM4Xl5Bin+YJ6oF5eQCAmUoTDsLy8gZq0hwTzSIqGIlYXkEws1Nl5eQMWbAm6xgGOsLy8grnPI58kVld3VeXkGX1iln1CvLyDJrEKHfFeXkEA4k5KI7CwvIP/2Q=="/>
          <p:cNvSpPr>
            <a:spLocks noChangeAspect="1" noChangeArrowheads="1"/>
          </p:cNvSpPr>
          <p:nvPr/>
        </p:nvSpPr>
        <p:spPr bwMode="auto">
          <a:xfrm>
            <a:off x="460375" y="1603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descr="http://t0.gstatic.com/images?q=tbn:ANd9GcQYbAIuHQkXJygVJoBvElssdZkwuEaheL5dJo9UVhuAPxqucJv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2743200"/>
            <a:ext cx="1333500" cy="1891710"/>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7" descr="Screen Shot 2015-09-21 at 8.03.2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4343400"/>
            <a:ext cx="7848600" cy="1016000"/>
          </a:xfrm>
          <a:prstGeom prst="rect">
            <a:avLst/>
          </a:prstGeom>
        </p:spPr>
      </p:pic>
    </p:spTree>
    <p:extLst>
      <p:ext uri="{BB962C8B-B14F-4D97-AF65-F5344CB8AC3E}">
        <p14:creationId xmlns:p14="http://schemas.microsoft.com/office/powerpoint/2010/main" val="407976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Alternative Security Formulation:</a:t>
            </a:r>
            <a:br>
              <a:rPr lang="en-US" dirty="0">
                <a:solidFill>
                  <a:srgbClr val="0000FF"/>
                </a:solidFill>
              </a:rPr>
            </a:br>
            <a:r>
              <a:rPr lang="en-US" dirty="0">
                <a:solidFill>
                  <a:srgbClr val="0000FF"/>
                </a:solidFill>
              </a:rPr>
              <a:t>“Indistinguishability Game”</a:t>
            </a:r>
          </a:p>
        </p:txBody>
      </p:sp>
      <p:sp>
        <p:nvSpPr>
          <p:cNvPr id="3" name="Content Placeholder 2"/>
          <p:cNvSpPr>
            <a:spLocks noGrp="1"/>
          </p:cNvSpPr>
          <p:nvPr>
            <p:ph idx="1"/>
          </p:nvPr>
        </p:nvSpPr>
        <p:spPr/>
        <p:txBody>
          <a:bodyPr/>
          <a:lstStyle/>
          <a:p>
            <a:pPr marL="0" indent="0">
              <a:buNone/>
            </a:pPr>
            <a:r>
              <a:rPr lang="en-US" dirty="0">
                <a:solidFill>
                  <a:schemeClr val="accent3">
                    <a:lumMod val="75000"/>
                  </a:schemeClr>
                </a:solidFill>
              </a:rPr>
              <a:t>1. Adversary chooses two pieces of plaintext</a:t>
            </a:r>
          </a:p>
          <a:p>
            <a:pPr marL="0" indent="0">
              <a:buNone/>
            </a:pPr>
            <a:r>
              <a:rPr lang="en-US" dirty="0">
                <a:solidFill>
                  <a:schemeClr val="accent3">
                    <a:lumMod val="75000"/>
                  </a:schemeClr>
                </a:solidFill>
              </a:rPr>
              <a:t>2. We encrypt one of them randomly</a:t>
            </a:r>
          </a:p>
          <a:p>
            <a:pPr marL="0" indent="0">
              <a:buNone/>
            </a:pPr>
            <a:r>
              <a:rPr lang="en-US" dirty="0">
                <a:solidFill>
                  <a:schemeClr val="accent3">
                    <a:lumMod val="75000"/>
                  </a:schemeClr>
                </a:solidFill>
              </a:rPr>
              <a:t>3. Adversary guesses which plaintext was encrypted</a:t>
            </a:r>
          </a:p>
          <a:p>
            <a:pPr marL="0" indent="0">
              <a:buNone/>
            </a:pPr>
            <a:endParaRPr lang="en-US" dirty="0"/>
          </a:p>
          <a:p>
            <a:pPr marL="0" indent="0">
              <a:buNone/>
            </a:pPr>
            <a:r>
              <a:rPr lang="en-US" dirty="0"/>
              <a:t>Encryption is secure if adversary can’t do better than random guessing.</a:t>
            </a:r>
          </a:p>
          <a:p>
            <a:endParaRPr lang="en-US" dirty="0"/>
          </a:p>
        </p:txBody>
      </p:sp>
    </p:spTree>
    <p:extLst>
      <p:ext uri="{BB962C8B-B14F-4D97-AF65-F5344CB8AC3E}">
        <p14:creationId xmlns:p14="http://schemas.microsoft.com/office/powerpoint/2010/main" val="4290766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Discussion: Why use the </a:t>
            </a:r>
            <a:r>
              <a:rPr lang="en-US" dirty="0" err="1">
                <a:solidFill>
                  <a:srgbClr val="FF0000"/>
                </a:solidFill>
              </a:rPr>
              <a:t>xor</a:t>
            </a:r>
            <a:r>
              <a:rPr lang="en-US" dirty="0">
                <a:solidFill>
                  <a:srgbClr val="0000FF"/>
                </a:solidFill>
              </a:rPr>
              <a:t> operation in one time pad? </a:t>
            </a:r>
          </a:p>
        </p:txBody>
      </p:sp>
      <p:sp>
        <p:nvSpPr>
          <p:cNvPr id="3" name="Content Placeholder 2"/>
          <p:cNvSpPr>
            <a:spLocks noGrp="1"/>
          </p:cNvSpPr>
          <p:nvPr>
            <p:ph idx="1"/>
          </p:nvPr>
        </p:nvSpPr>
        <p:spPr>
          <a:ln>
            <a:solidFill>
              <a:schemeClr val="tx1"/>
            </a:solidFill>
          </a:ln>
        </p:spPr>
        <p:txBody>
          <a:bodyPr/>
          <a:lstStyle/>
          <a:p>
            <a:r>
              <a:rPr lang="en-US" dirty="0"/>
              <a:t>Why can’t we use integer addition instead?</a:t>
            </a:r>
          </a:p>
          <a:p>
            <a:pPr lvl="1"/>
            <a:r>
              <a:rPr lang="en-US" dirty="0" err="1"/>
              <a:t>Ciphertext</a:t>
            </a:r>
            <a:r>
              <a:rPr lang="en-US" dirty="0"/>
              <a:t> = plaintext + key? </a:t>
            </a:r>
          </a:p>
          <a:p>
            <a:pPr lvl="1"/>
            <a:r>
              <a:rPr lang="en-US" dirty="0">
                <a:solidFill>
                  <a:srgbClr val="FF0000"/>
                </a:solidFill>
              </a:rPr>
              <a:t>Potential for information leaks!  </a:t>
            </a:r>
          </a:p>
          <a:p>
            <a:pPr lvl="1"/>
            <a:r>
              <a:rPr lang="en-US" dirty="0"/>
              <a:t>Example: Messages and keys chosen from the space of positive numbers</a:t>
            </a:r>
          </a:p>
          <a:p>
            <a:pPr lvl="2"/>
            <a:r>
              <a:rPr lang="en-US" dirty="0"/>
              <a:t>Suppose plaintext is 3</a:t>
            </a:r>
          </a:p>
          <a:p>
            <a:pPr lvl="2"/>
            <a:r>
              <a:rPr lang="en-US" dirty="0"/>
              <a:t>Suppose key (randomly chosen) is 10</a:t>
            </a:r>
          </a:p>
          <a:p>
            <a:pPr lvl="2"/>
            <a:r>
              <a:rPr lang="en-US" dirty="0" err="1"/>
              <a:t>Ciphertex</a:t>
            </a:r>
            <a:r>
              <a:rPr lang="en-US" dirty="0"/>
              <a:t> = 3 + 10 = 13.</a:t>
            </a:r>
          </a:p>
        </p:txBody>
      </p:sp>
      <p:sp>
        <p:nvSpPr>
          <p:cNvPr id="4" name="Rectangle 3"/>
          <p:cNvSpPr/>
          <p:nvPr/>
        </p:nvSpPr>
        <p:spPr>
          <a:xfrm>
            <a:off x="1295400" y="5715000"/>
            <a:ext cx="6172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Adversary can infer that initial message lies between 0 and 13!  </a:t>
            </a:r>
          </a:p>
        </p:txBody>
      </p:sp>
    </p:spTree>
    <p:extLst>
      <p:ext uri="{BB962C8B-B14F-4D97-AF65-F5344CB8AC3E}">
        <p14:creationId xmlns:p14="http://schemas.microsoft.com/office/powerpoint/2010/main" val="359272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Discussion: Can the key be “re-used”? </a:t>
            </a:r>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pPr marL="0" indent="0">
              <a:buNone/>
            </a:pPr>
            <a:r>
              <a:rPr lang="en-US" b="1" dirty="0">
                <a:solidFill>
                  <a:srgbClr val="FF0000"/>
                </a:solidFill>
              </a:rPr>
              <a:t>Say two bitmapped images m</a:t>
            </a:r>
            <a:r>
              <a:rPr lang="en-US" b="1" baseline="-25000" dirty="0">
                <a:solidFill>
                  <a:srgbClr val="FF0000"/>
                </a:solidFill>
              </a:rPr>
              <a:t>1</a:t>
            </a:r>
            <a:r>
              <a:rPr lang="en-US" b="1" dirty="0">
                <a:solidFill>
                  <a:srgbClr val="FF0000"/>
                </a:solidFill>
              </a:rPr>
              <a:t> and m</a:t>
            </a:r>
            <a:r>
              <a:rPr lang="en-US" b="1" baseline="-25000" dirty="0">
                <a:solidFill>
                  <a:srgbClr val="FF0000"/>
                </a:solidFill>
              </a:rPr>
              <a:t>2</a:t>
            </a:r>
            <a:r>
              <a:rPr lang="en-US" b="1" dirty="0">
                <a:solidFill>
                  <a:srgbClr val="FF0000"/>
                </a:solidFill>
              </a:rPr>
              <a:t> are encrypted with the same key </a:t>
            </a:r>
            <a:r>
              <a:rPr lang="en-US" b="1" i="1" dirty="0">
                <a:solidFill>
                  <a:srgbClr val="FF0000"/>
                </a:solidFill>
              </a:rPr>
              <a:t>k</a:t>
            </a:r>
            <a:r>
              <a:rPr lang="en-US" b="1" dirty="0">
                <a:solidFill>
                  <a:srgbClr val="FF0000"/>
                </a:solidFill>
              </a:rPr>
              <a:t>. </a:t>
            </a:r>
          </a:p>
          <a:p>
            <a:pPr marL="0" indent="0">
              <a:buNone/>
            </a:pPr>
            <a:r>
              <a:rPr lang="en-US" b="1" dirty="0">
                <a:solidFill>
                  <a:srgbClr val="FF0000"/>
                </a:solidFill>
              </a:rPr>
              <a:t>How can the adversary exploit it?</a:t>
            </a:r>
          </a:p>
          <a:p>
            <a:pPr marL="0" indent="0">
              <a:buNone/>
            </a:pPr>
            <a:endParaRPr lang="en-US" i="1" dirty="0"/>
          </a:p>
          <a:p>
            <a:pPr marL="0" indent="0">
              <a:buNone/>
            </a:pPr>
            <a:r>
              <a:rPr lang="en-US" i="1" dirty="0" err="1"/>
              <a:t>E</a:t>
            </a:r>
            <a:r>
              <a:rPr lang="en-US" i="1" baseline="-25000" dirty="0" err="1"/>
              <a:t>k</a:t>
            </a:r>
            <a:r>
              <a:rPr lang="en-US" i="1" dirty="0"/>
              <a:t>(m</a:t>
            </a:r>
            <a:r>
              <a:rPr lang="en-US" i="1" baseline="-25000" dirty="0"/>
              <a:t>1</a:t>
            </a:r>
            <a:r>
              <a:rPr lang="en-US" i="1" dirty="0"/>
              <a:t>) = k ⊕ m</a:t>
            </a:r>
            <a:r>
              <a:rPr lang="en-US" i="1" baseline="-25000" dirty="0"/>
              <a:t>1</a:t>
            </a:r>
          </a:p>
          <a:p>
            <a:pPr marL="0" indent="0">
              <a:buNone/>
            </a:pPr>
            <a:r>
              <a:rPr lang="en-US" i="1" dirty="0" err="1"/>
              <a:t>E</a:t>
            </a:r>
            <a:r>
              <a:rPr lang="en-US" i="1" baseline="-25000" dirty="0" err="1"/>
              <a:t>k</a:t>
            </a:r>
            <a:r>
              <a:rPr lang="en-US" i="1" dirty="0"/>
              <a:t>(m</a:t>
            </a:r>
            <a:r>
              <a:rPr lang="en-US" i="1" baseline="-25000" dirty="0"/>
              <a:t>2</a:t>
            </a:r>
            <a:r>
              <a:rPr lang="en-US" i="1" dirty="0"/>
              <a:t>) = k ⊕ m</a:t>
            </a:r>
            <a:r>
              <a:rPr lang="en-US" i="1" baseline="-25000" dirty="0"/>
              <a:t>2</a:t>
            </a:r>
          </a:p>
          <a:p>
            <a:pPr marL="0" indent="0">
              <a:buNone/>
            </a:pPr>
            <a:endParaRPr lang="en-US" i="1" baseline="-25000" dirty="0"/>
          </a:p>
          <a:p>
            <a:pPr marL="0" indent="0">
              <a:buNone/>
            </a:pPr>
            <a:r>
              <a:rPr lang="en-US" i="1" dirty="0" err="1"/>
              <a:t>E</a:t>
            </a:r>
            <a:r>
              <a:rPr lang="en-US" i="1" baseline="-25000" dirty="0" err="1"/>
              <a:t>k</a:t>
            </a:r>
            <a:r>
              <a:rPr lang="en-US" i="1" dirty="0"/>
              <a:t>(m</a:t>
            </a:r>
            <a:r>
              <a:rPr lang="en-US" i="1" baseline="-25000" dirty="0"/>
              <a:t>1</a:t>
            </a:r>
            <a:r>
              <a:rPr lang="en-US" i="1" dirty="0"/>
              <a:t>) ⊕ </a:t>
            </a:r>
            <a:r>
              <a:rPr lang="en-US" i="1" dirty="0" err="1"/>
              <a:t>E</a:t>
            </a:r>
            <a:r>
              <a:rPr lang="en-US" i="1" baseline="-25000" dirty="0" err="1"/>
              <a:t>k</a:t>
            </a:r>
            <a:r>
              <a:rPr lang="en-US" i="1" dirty="0"/>
              <a:t>(m</a:t>
            </a:r>
            <a:r>
              <a:rPr lang="en-US" i="1" baseline="-25000" dirty="0"/>
              <a:t>2</a:t>
            </a:r>
            <a:r>
              <a:rPr lang="en-US" i="1" dirty="0"/>
              <a:t>) = m</a:t>
            </a:r>
            <a:r>
              <a:rPr lang="en-US" i="1" baseline="-25000" dirty="0"/>
              <a:t>1</a:t>
            </a:r>
            <a:r>
              <a:rPr lang="en-US" i="1" dirty="0"/>
              <a:t> ⊕ m</a:t>
            </a:r>
            <a:r>
              <a:rPr lang="en-US" i="1" baseline="-25000" dirty="0"/>
              <a:t>2</a:t>
            </a:r>
          </a:p>
          <a:p>
            <a:pPr marL="0" indent="0">
              <a:buNone/>
            </a:pPr>
            <a:endParaRPr lang="en-US" i="1" baseline="-25000" dirty="0"/>
          </a:p>
          <a:p>
            <a:pPr marL="0" indent="0">
              <a:buNone/>
            </a:pPr>
            <a:r>
              <a:rPr lang="en-US" dirty="0"/>
              <a:t>Images have a lot of redundant content. </a:t>
            </a:r>
            <a:br>
              <a:rPr lang="en-US" dirty="0"/>
            </a:br>
            <a:r>
              <a:rPr lang="en-US" dirty="0"/>
              <a:t>XOR gives info about both</a:t>
            </a:r>
            <a:endParaRPr lang="en-US" baseline="-25000" dirty="0"/>
          </a:p>
        </p:txBody>
      </p:sp>
      <p:grpSp>
        <p:nvGrpSpPr>
          <p:cNvPr id="6" name="Group 5"/>
          <p:cNvGrpSpPr/>
          <p:nvPr/>
        </p:nvGrpSpPr>
        <p:grpSpPr>
          <a:xfrm>
            <a:off x="3657600" y="3657600"/>
            <a:ext cx="4876800" cy="1219201"/>
            <a:chOff x="3657600" y="3657600"/>
            <a:chExt cx="4876800" cy="1219201"/>
          </a:xfrm>
        </p:grpSpPr>
        <p:pic>
          <p:nvPicPr>
            <p:cNvPr id="7170" name="Picture 2" descr="Smiley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628" y="3657600"/>
              <a:ext cx="1219200" cy="1219201"/>
            </a:xfrm>
            <a:prstGeom prst="rect">
              <a:avLst/>
            </a:prstGeom>
            <a:noFill/>
            <a:extLst>
              <a:ext uri="{909E8E84-426E-40dd-AFC4-6F175D3DCCD1}">
                <a14:hiddenFill xmlns="" xmlns:a14="http://schemas.microsoft.com/office/drawing/2010/main">
                  <a:solidFill>
                    <a:srgbClr val="FFFFFF"/>
                  </a:solidFill>
                </a14:hiddenFill>
              </a:ext>
            </a:extLst>
          </p:spPr>
        </p:pic>
        <p:pic>
          <p:nvPicPr>
            <p:cNvPr id="7172" name="Picture 4" descr="Message saying \&quot; tit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657600"/>
              <a:ext cx="1219200" cy="1219201"/>
            </a:xfrm>
            <a:prstGeom prst="rect">
              <a:avLst/>
            </a:prstGeom>
            <a:noFill/>
            <a:extLst>
              <a:ext uri="{909E8E84-426E-40dd-AFC4-6F175D3DCCD1}">
                <a14:hiddenFill xmlns="" xmlns:a14="http://schemas.microsoft.com/office/drawing/2010/main">
                  <a:solidFill>
                    <a:srgbClr val="FFFFFF"/>
                  </a:solidFill>
                </a14:hiddenFill>
              </a:ext>
            </a:extLst>
          </p:spPr>
        </p:pic>
        <p:pic>
          <p:nvPicPr>
            <p:cNvPr id="7174" name="Picture 6" descr="Smiley overlaying the \&quot; tit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3657600"/>
              <a:ext cx="1219200" cy="1219201"/>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p:cNvSpPr/>
            <p:nvPr/>
          </p:nvSpPr>
          <p:spPr>
            <a:xfrm>
              <a:off x="4909457" y="4036368"/>
              <a:ext cx="490840" cy="461665"/>
            </a:xfrm>
            <a:prstGeom prst="rect">
              <a:avLst/>
            </a:prstGeom>
          </p:spPr>
          <p:txBody>
            <a:bodyPr wrap="none">
              <a:spAutoFit/>
            </a:bodyPr>
            <a:lstStyle/>
            <a:p>
              <a:r>
                <a:rPr lang="en-US" sz="2400" dirty="0"/>
                <a:t>⊕</a:t>
              </a:r>
            </a:p>
          </p:txBody>
        </p:sp>
        <p:sp>
          <p:nvSpPr>
            <p:cNvPr id="5" name="Rectangle 4"/>
            <p:cNvSpPr/>
            <p:nvPr/>
          </p:nvSpPr>
          <p:spPr>
            <a:xfrm>
              <a:off x="6836228" y="4036368"/>
              <a:ext cx="338554" cy="461665"/>
            </a:xfrm>
            <a:prstGeom prst="rect">
              <a:avLst/>
            </a:prstGeom>
          </p:spPr>
          <p:txBody>
            <a:bodyPr wrap="none">
              <a:spAutoFit/>
            </a:bodyPr>
            <a:lstStyle/>
            <a:p>
              <a:r>
                <a:rPr lang="en-US" sz="2400" dirty="0"/>
                <a:t>=</a:t>
              </a:r>
            </a:p>
          </p:txBody>
        </p:sp>
      </p:grpSp>
    </p:spTree>
    <p:extLst>
      <p:ext uri="{BB962C8B-B14F-4D97-AF65-F5344CB8AC3E}">
        <p14:creationId xmlns:p14="http://schemas.microsoft.com/office/powerpoint/2010/main" val="287980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Computational Encryption:</a:t>
            </a:r>
            <a:br>
              <a:rPr lang="en-US" dirty="0">
                <a:solidFill>
                  <a:srgbClr val="0000FF"/>
                </a:solidFill>
              </a:rPr>
            </a:br>
            <a:r>
              <a:rPr lang="en-US" dirty="0">
                <a:solidFill>
                  <a:srgbClr val="0000FF"/>
                </a:solidFill>
              </a:rPr>
              <a:t>Feasible/Infeasible Computations</a:t>
            </a:r>
          </a:p>
        </p:txBody>
      </p:sp>
      <p:sp>
        <p:nvSpPr>
          <p:cNvPr id="3" name="Content Placeholder 2"/>
          <p:cNvSpPr>
            <a:spLocks noGrp="1"/>
          </p:cNvSpPr>
          <p:nvPr>
            <p:ph idx="1"/>
          </p:nvPr>
        </p:nvSpPr>
        <p:spPr/>
        <p:txBody>
          <a:bodyPr>
            <a:normAutofit lnSpcReduction="10000"/>
          </a:bodyPr>
          <a:lstStyle/>
          <a:p>
            <a:r>
              <a:rPr lang="en-US" dirty="0"/>
              <a:t>Lets assume adversary is </a:t>
            </a:r>
            <a:r>
              <a:rPr lang="en-US" dirty="0">
                <a:solidFill>
                  <a:srgbClr val="FF0000"/>
                </a:solidFill>
              </a:rPr>
              <a:t>computationally bounded</a:t>
            </a:r>
          </a:p>
          <a:p>
            <a:pPr lvl="1"/>
            <a:r>
              <a:rPr lang="en-US" dirty="0"/>
              <a:t>“Feasible computation”: typically polynomial time</a:t>
            </a:r>
          </a:p>
          <a:p>
            <a:pPr lvl="1"/>
            <a:r>
              <a:rPr lang="en-US" dirty="0"/>
              <a:t>Example: O(n), O(n^2), O(n^3)</a:t>
            </a:r>
          </a:p>
          <a:p>
            <a:r>
              <a:rPr lang="en-US" dirty="0"/>
              <a:t>What is an “infeasible computation”</a:t>
            </a:r>
          </a:p>
          <a:p>
            <a:pPr lvl="1"/>
            <a:r>
              <a:rPr lang="en-US" dirty="0"/>
              <a:t>Super polynomial time</a:t>
            </a:r>
          </a:p>
          <a:p>
            <a:pPr lvl="1"/>
            <a:r>
              <a:rPr lang="en-US" dirty="0"/>
              <a:t>Example: O(2^n)</a:t>
            </a:r>
          </a:p>
          <a:p>
            <a:r>
              <a:rPr lang="en-US" dirty="0"/>
              <a:t>Question: How long would an algorithm with </a:t>
            </a:r>
            <a:r>
              <a:rPr lang="en-US"/>
              <a:t>complexity O(2^128) </a:t>
            </a:r>
            <a:r>
              <a:rPr lang="en-US" dirty="0"/>
              <a:t>take to finish? </a:t>
            </a:r>
          </a:p>
        </p:txBody>
      </p:sp>
    </p:spTree>
    <p:extLst>
      <p:ext uri="{BB962C8B-B14F-4D97-AF65-F5344CB8AC3E}">
        <p14:creationId xmlns:p14="http://schemas.microsoft.com/office/powerpoint/2010/main" val="3812926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676400"/>
                <a:ext cx="8229600" cy="4525963"/>
              </a:xfrm>
            </p:spPr>
            <p:txBody>
              <a:bodyPr>
                <a:normAutofit lnSpcReduction="10000"/>
              </a:bodyPr>
              <a:lstStyle/>
              <a:p>
                <a:r>
                  <a:rPr lang="en-US" dirty="0"/>
                  <a:t>Lets assume adversary is </a:t>
                </a:r>
                <a:r>
                  <a:rPr lang="en-US" dirty="0">
                    <a:solidFill>
                      <a:srgbClr val="FF0000"/>
                    </a:solidFill>
                  </a:rPr>
                  <a:t>computationally bounded</a:t>
                </a:r>
              </a:p>
              <a:p>
                <a:pPr lvl="1"/>
                <a:r>
                  <a:rPr lang="en-US" dirty="0"/>
                  <a:t>i.e., polynomial time</a:t>
                </a:r>
              </a:p>
              <a:p>
                <a:r>
                  <a:rPr lang="en-US" dirty="0"/>
                  <a:t>Examples of computationally hard problems</a:t>
                </a:r>
              </a:p>
              <a:p>
                <a:pPr lvl="1"/>
                <a:r>
                  <a:rPr lang="en-US" dirty="0">
                    <a:solidFill>
                      <a:srgbClr val="FF0000"/>
                    </a:solidFill>
                  </a:rPr>
                  <a:t>Discrete log problem</a:t>
                </a:r>
              </a:p>
              <a:p>
                <a:pPr lvl="2"/>
                <a:r>
                  <a:rPr lang="en-US" dirty="0"/>
                  <a:t>Solve for x: y</a:t>
                </a:r>
                <a14:m>
                  <m:oMath xmlns:m="http://schemas.openxmlformats.org/officeDocument/2006/math">
                    <m:r>
                      <a:rPr lang="en-US" i="1" smtClean="0">
                        <a:latin typeface="Cambria Math"/>
                      </a:rPr>
                      <m:t>=</m:t>
                    </m:r>
                    <m:sSup>
                      <m:sSupPr>
                        <m:ctrlPr>
                          <a:rPr lang="en-US" i="1" smtClean="0">
                            <a:latin typeface="Cambria Math" panose="02040503050406030204" pitchFamily="18" charset="0"/>
                          </a:rPr>
                        </m:ctrlPr>
                      </m:sSupPr>
                      <m:e>
                        <m:r>
                          <a:rPr lang="en-US" b="0" i="1" smtClean="0">
                            <a:latin typeface="Cambria Math"/>
                          </a:rPr>
                          <m:t>𝑔</m:t>
                        </m:r>
                      </m:e>
                      <m:sup>
                        <m:r>
                          <a:rPr lang="en-US" b="0" i="1" smtClean="0">
                            <a:latin typeface="Cambria Math"/>
                          </a:rPr>
                          <m:t>𝑥</m:t>
                        </m:r>
                      </m:sup>
                    </m:sSup>
                  </m:oMath>
                </a14:m>
                <a:endParaRPr lang="en-US" dirty="0"/>
              </a:p>
              <a:p>
                <a:pPr lvl="1"/>
                <a:r>
                  <a:rPr lang="en-US" dirty="0">
                    <a:solidFill>
                      <a:srgbClr val="FF0000"/>
                    </a:solidFill>
                  </a:rPr>
                  <a:t>Factorization</a:t>
                </a:r>
              </a:p>
              <a:p>
                <a:pPr lvl="2"/>
                <a:r>
                  <a:rPr lang="en-US" dirty="0"/>
                  <a:t>Solve for </a:t>
                </a:r>
                <a:r>
                  <a:rPr lang="en-US" dirty="0" err="1"/>
                  <a:t>p,q</a:t>
                </a:r>
                <a:r>
                  <a:rPr lang="en-US" dirty="0"/>
                  <a:t>: p.q</a:t>
                </a:r>
                <a14:m>
                  <m:oMath xmlns:m="http://schemas.openxmlformats.org/officeDocument/2006/math">
                    <m:r>
                      <a:rPr lang="en-US" i="1" smtClean="0">
                        <a:latin typeface="Cambria Math"/>
                      </a:rPr>
                      <m:t>=</m:t>
                    </m:r>
                    <m:r>
                      <a:rPr lang="en-US" b="0" i="1" smtClean="0">
                        <a:latin typeface="Cambria Math"/>
                      </a:rPr>
                      <m:t>𝑛</m:t>
                    </m:r>
                  </m:oMath>
                </a14:m>
                <a:endParaRPr lang="en-US" dirty="0"/>
              </a:p>
              <a:p>
                <a:r>
                  <a:rPr lang="en-US" dirty="0" err="1"/>
                  <a:t>Keyspace</a:t>
                </a:r>
                <a:r>
                  <a:rPr lang="en-US" dirty="0"/>
                  <a:t>, security parameter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676400"/>
                <a:ext cx="8229600" cy="4525963"/>
              </a:xfrm>
              <a:blipFill rotWithShape="1">
                <a:blip r:embed="rId3"/>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normAutofit fontScale="90000"/>
          </a:bodyPr>
          <a:lstStyle/>
          <a:p>
            <a:r>
              <a:rPr lang="en-US" dirty="0">
                <a:solidFill>
                  <a:srgbClr val="0000FF"/>
                </a:solidFill>
              </a:rPr>
              <a:t>Computational Encryption:</a:t>
            </a:r>
            <a:br>
              <a:rPr lang="en-US" dirty="0">
                <a:solidFill>
                  <a:srgbClr val="0000FF"/>
                </a:solidFill>
              </a:rPr>
            </a:br>
            <a:r>
              <a:rPr lang="en-US" dirty="0">
                <a:solidFill>
                  <a:srgbClr val="0000FF"/>
                </a:solidFill>
              </a:rPr>
              <a:t>Hardness assumptions</a:t>
            </a:r>
          </a:p>
        </p:txBody>
      </p:sp>
      <p:pic>
        <p:nvPicPr>
          <p:cNvPr id="5" name="Picture 4" descr="Screen Shot 2016-02-02 at 6.43.4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399" y="4038600"/>
            <a:ext cx="1691105" cy="558800"/>
          </a:xfrm>
          <a:prstGeom prst="rect">
            <a:avLst/>
          </a:prstGeom>
        </p:spPr>
      </p:pic>
    </p:spTree>
    <p:extLst>
      <p:ext uri="{BB962C8B-B14F-4D97-AF65-F5344CB8AC3E}">
        <p14:creationId xmlns:p14="http://schemas.microsoft.com/office/powerpoint/2010/main" val="2910335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Symmetric Encryption Paradigm</a:t>
            </a:r>
          </a:p>
        </p:txBody>
      </p:sp>
      <p:sp>
        <p:nvSpPr>
          <p:cNvPr id="3" name="Content Placeholder 2"/>
          <p:cNvSpPr>
            <a:spLocks noGrp="1"/>
          </p:cNvSpPr>
          <p:nvPr>
            <p:ph idx="1"/>
          </p:nvPr>
        </p:nvSpPr>
        <p:spPr/>
        <p:txBody>
          <a:bodyPr>
            <a:normAutofit fontScale="92500"/>
          </a:bodyPr>
          <a:lstStyle/>
          <a:p>
            <a:r>
              <a:rPr lang="en-US" dirty="0"/>
              <a:t>Key Generation</a:t>
            </a:r>
          </a:p>
          <a:p>
            <a:pPr lvl="1"/>
            <a:r>
              <a:rPr lang="en-US" dirty="0"/>
              <a:t>K  (randomly generated from a </a:t>
            </a:r>
            <a:r>
              <a:rPr lang="en-US" dirty="0" err="1"/>
              <a:t>keyspace</a:t>
            </a:r>
            <a:r>
              <a:rPr lang="en-US" dirty="0"/>
              <a:t>)</a:t>
            </a:r>
          </a:p>
          <a:p>
            <a:r>
              <a:rPr lang="en-US" dirty="0"/>
              <a:t>Encryption (Randomized)</a:t>
            </a:r>
          </a:p>
          <a:p>
            <a:pPr lvl="1"/>
            <a:r>
              <a:rPr lang="en-US" dirty="0" err="1">
                <a:solidFill>
                  <a:srgbClr val="FF0000"/>
                </a:solidFill>
              </a:rPr>
              <a:t>Enc</a:t>
            </a:r>
            <a:r>
              <a:rPr lang="en-US" dirty="0">
                <a:solidFill>
                  <a:srgbClr val="FF0000"/>
                </a:solidFill>
              </a:rPr>
              <a:t>: M*K*R </a:t>
            </a:r>
            <a:r>
              <a:rPr lang="en-US" dirty="0">
                <a:solidFill>
                  <a:srgbClr val="FF0000"/>
                </a:solidFill>
                <a:sym typeface="Wingdings" panose="05000000000000000000" pitchFamily="2" charset="2"/>
              </a:rPr>
              <a:t> C</a:t>
            </a:r>
          </a:p>
          <a:p>
            <a:pPr lvl="1"/>
            <a:r>
              <a:rPr lang="en-US" dirty="0">
                <a:sym typeface="Wingdings" panose="05000000000000000000" pitchFamily="2" charset="2"/>
              </a:rPr>
              <a:t>Choose a fresh random string r for each encryption. </a:t>
            </a:r>
          </a:p>
          <a:p>
            <a:pPr lvl="1"/>
            <a:r>
              <a:rPr lang="en-US" dirty="0">
                <a:sym typeface="Wingdings" panose="05000000000000000000" pitchFamily="2" charset="2"/>
              </a:rPr>
              <a:t>M denotes the plaintext message. C is the </a:t>
            </a:r>
            <a:r>
              <a:rPr lang="en-US" dirty="0" err="1">
                <a:sym typeface="Wingdings" panose="05000000000000000000" pitchFamily="2" charset="2"/>
              </a:rPr>
              <a:t>ciphertext</a:t>
            </a:r>
            <a:r>
              <a:rPr lang="en-US" dirty="0">
                <a:sym typeface="Wingdings" panose="05000000000000000000" pitchFamily="2" charset="2"/>
              </a:rPr>
              <a:t>. </a:t>
            </a:r>
          </a:p>
          <a:p>
            <a:r>
              <a:rPr lang="en-US" dirty="0">
                <a:sym typeface="Wingdings" panose="05000000000000000000" pitchFamily="2" charset="2"/>
              </a:rPr>
              <a:t>Decryption (Deterministic)</a:t>
            </a:r>
          </a:p>
          <a:p>
            <a:pPr lvl="1"/>
            <a:r>
              <a:rPr lang="en-US" dirty="0">
                <a:solidFill>
                  <a:srgbClr val="FF0000"/>
                </a:solidFill>
                <a:sym typeface="Wingdings" panose="05000000000000000000" pitchFamily="2" charset="2"/>
              </a:rPr>
              <a:t>Dec: C*K  M</a:t>
            </a:r>
            <a:endParaRPr lang="en-US" dirty="0">
              <a:solidFill>
                <a:srgbClr val="FF0000"/>
              </a:solidFill>
            </a:endParaRPr>
          </a:p>
        </p:txBody>
      </p:sp>
    </p:spTree>
    <p:extLst>
      <p:ext uri="{BB962C8B-B14F-4D97-AF65-F5344CB8AC3E}">
        <p14:creationId xmlns:p14="http://schemas.microsoft.com/office/powerpoint/2010/main" val="179940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Computational Encryption:</a:t>
            </a:r>
            <a:br>
              <a:rPr lang="en-US" dirty="0">
                <a:solidFill>
                  <a:srgbClr val="0000FF"/>
                </a:solidFill>
              </a:rPr>
            </a:br>
            <a:r>
              <a:rPr lang="en-US" dirty="0">
                <a:solidFill>
                  <a:srgbClr val="0000FF"/>
                </a:solidFill>
              </a:rPr>
              <a:t>Stream Ciphers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Pseudorandom number generators (PRG)</a:t>
                </a:r>
              </a:p>
              <a:p>
                <a:r>
                  <a:rPr lang="en-US" dirty="0">
                    <a:solidFill>
                      <a:srgbClr val="FF0000"/>
                    </a:solidFill>
                  </a:rPr>
                  <a:t>Expand a short seed into a random number</a:t>
                </a:r>
              </a:p>
              <a:p>
                <a:pPr lvl="1"/>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0,1</m:t>
                        </m:r>
                      </m:e>
                    </m:d>
                    <m:r>
                      <a:rPr lang="en-US" b="0" i="1" baseline="30000" smtClean="0">
                        <a:latin typeface="Cambria Math"/>
                      </a:rPr>
                      <m:t>𝑘</m:t>
                    </m:r>
                    <m:r>
                      <a:rPr lang="en-US" b="0" i="1" smtClean="0">
                        <a:latin typeface="Cambria Math"/>
                      </a:rPr>
                      <m:t> →</m:t>
                    </m:r>
                    <m:d>
                      <m:dPr>
                        <m:begChr m:val="{"/>
                        <m:endChr m:val="}"/>
                        <m:ctrlPr>
                          <a:rPr lang="en-US" b="0" i="1" smtClean="0">
                            <a:latin typeface="Cambria Math" panose="02040503050406030204" pitchFamily="18" charset="0"/>
                          </a:rPr>
                        </m:ctrlPr>
                      </m:dPr>
                      <m:e>
                        <m:r>
                          <a:rPr lang="en-US" b="0" i="1" smtClean="0">
                            <a:latin typeface="Cambria Math"/>
                          </a:rPr>
                          <m:t>0,1</m:t>
                        </m:r>
                      </m:e>
                    </m:d>
                    <m:r>
                      <a:rPr lang="en-US" b="0" i="1" baseline="30000" smtClean="0">
                        <a:latin typeface="Cambria Math"/>
                      </a:rPr>
                      <m:t>𝑛</m:t>
                    </m:r>
                    <m:r>
                      <a:rPr lang="en-US" b="0" i="1" smtClean="0">
                        <a:latin typeface="Cambria Math"/>
                      </a:rPr>
                      <m:t>, </m:t>
                    </m:r>
                    <m:r>
                      <a:rPr lang="en-US" b="0" i="1" smtClean="0">
                        <a:latin typeface="Cambria Math"/>
                      </a:rPr>
                      <m:t>𝑛</m:t>
                    </m:r>
                    <m:r>
                      <a:rPr lang="en-US" b="0" i="1" smtClean="0">
                        <a:latin typeface="Cambria Math"/>
                      </a:rPr>
                      <m:t>&gt;</m:t>
                    </m:r>
                    <m:r>
                      <a:rPr lang="en-US" b="0" i="1" smtClean="0">
                        <a:latin typeface="Cambria Math"/>
                      </a:rPr>
                      <m:t>𝑘</m:t>
                    </m:r>
                  </m:oMath>
                </a14:m>
                <a:endParaRPr lang="en-US" b="0" dirty="0"/>
              </a:p>
              <a:p>
                <a:pPr lvl="1"/>
                <a:r>
                  <a:rPr lang="en-US" dirty="0"/>
                  <a:t>n – k bit stretch</a:t>
                </a:r>
              </a:p>
              <a:p>
                <a:pPr lvl="1"/>
                <a:r>
                  <a:rPr lang="en-US" dirty="0"/>
                  <a:t>Possible to expand stretch</a:t>
                </a:r>
              </a:p>
              <a:p>
                <a:pPr lvl="2"/>
                <a:r>
                  <a:rPr lang="en-US" dirty="0"/>
                  <a:t>to any polynomial length </a:t>
                </a:r>
              </a:p>
              <a:p>
                <a:pPr lvl="2"/>
                <a:r>
                  <a:rPr lang="en-US" dirty="0"/>
                  <a:t>use part of output as new seed</a:t>
                </a:r>
              </a:p>
              <a:p>
                <a:pPr lvl="2"/>
                <a:r>
                  <a:rPr lang="en-US" dirty="0"/>
                  <a:t>Stream Cipher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630" t="-1752"/>
                </a:stretch>
              </a:blipFill>
            </p:spPr>
            <p:txBody>
              <a:bodyPr/>
              <a:lstStyle/>
              <a:p>
                <a:r>
                  <a:rPr lang="en-US">
                    <a:noFill/>
                  </a:rPr>
                  <a:t> </a:t>
                </a:r>
              </a:p>
            </p:txBody>
          </p:sp>
        </mc:Fallback>
      </mc:AlternateContent>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562600"/>
            <a:ext cx="5562600" cy="10001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6371" y="3962400"/>
            <a:ext cx="1685925" cy="11334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5" descr="Screen Shot 2015-09-22 at 10.18.57 A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0600" y="2743200"/>
            <a:ext cx="4165600" cy="596900"/>
          </a:xfrm>
          <a:prstGeom prst="rect">
            <a:avLst/>
          </a:prstGeom>
        </p:spPr>
      </p:pic>
    </p:spTree>
    <p:extLst>
      <p:ext uri="{BB962C8B-B14F-4D97-AF65-F5344CB8AC3E}">
        <p14:creationId xmlns:p14="http://schemas.microsoft.com/office/powerpoint/2010/main" val="4077305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15400" cy="1143000"/>
          </a:xfrm>
        </p:spPr>
        <p:txBody>
          <a:bodyPr>
            <a:normAutofit fontScale="90000"/>
          </a:bodyPr>
          <a:lstStyle/>
          <a:p>
            <a:r>
              <a:rPr lang="en-US" dirty="0">
                <a:solidFill>
                  <a:srgbClr val="0000FF"/>
                </a:solidFill>
              </a:rPr>
              <a:t>Computational Encryption:</a:t>
            </a:r>
            <a:br>
              <a:rPr lang="en-US" dirty="0">
                <a:solidFill>
                  <a:srgbClr val="0000FF"/>
                </a:solidFill>
              </a:rPr>
            </a:br>
            <a:r>
              <a:rPr lang="en-US" dirty="0">
                <a:solidFill>
                  <a:srgbClr val="0000FF"/>
                </a:solidFill>
              </a:rPr>
              <a:t>Symmetric Encryption via Stream Ciphers</a:t>
            </a:r>
          </a:p>
        </p:txBody>
      </p:sp>
      <p:sp>
        <p:nvSpPr>
          <p:cNvPr id="3" name="Content Placeholder 2"/>
          <p:cNvSpPr>
            <a:spLocks noGrp="1"/>
          </p:cNvSpPr>
          <p:nvPr>
            <p:ph idx="1"/>
          </p:nvPr>
        </p:nvSpPr>
        <p:spPr/>
        <p:txBody>
          <a:bodyPr>
            <a:normAutofit/>
          </a:bodyPr>
          <a:lstStyle/>
          <a:p>
            <a:r>
              <a:rPr lang="en-US" dirty="0">
                <a:solidFill>
                  <a:srgbClr val="FF0000"/>
                </a:solidFill>
              </a:rPr>
              <a:t>Stream cipher</a:t>
            </a:r>
          </a:p>
          <a:p>
            <a:pPr lvl="1"/>
            <a:r>
              <a:rPr lang="en-US" dirty="0" err="1"/>
              <a:t>Xor</a:t>
            </a:r>
            <a:r>
              <a:rPr lang="en-US" dirty="0"/>
              <a:t> message and pseudorandom pad</a:t>
            </a:r>
          </a:p>
          <a:p>
            <a:r>
              <a:rPr lang="en-US" dirty="0"/>
              <a:t>One time pad like properties</a:t>
            </a:r>
          </a:p>
          <a:p>
            <a:pPr lvl="1"/>
            <a:r>
              <a:rPr lang="en-US" dirty="0"/>
              <a:t>But from short seed</a:t>
            </a:r>
          </a:p>
          <a:p>
            <a:r>
              <a:rPr lang="en-US" dirty="0"/>
              <a:t>Security?</a:t>
            </a:r>
          </a:p>
          <a:p>
            <a:pPr lvl="1"/>
            <a:r>
              <a:rPr lang="en-US" dirty="0"/>
              <a:t>From the security of pseudo-random generators</a:t>
            </a:r>
          </a:p>
          <a:p>
            <a:pPr lvl="2"/>
            <a:r>
              <a:rPr lang="en-US" dirty="0" err="1"/>
              <a:t>Rabins</a:t>
            </a:r>
            <a:r>
              <a:rPr lang="en-US" dirty="0"/>
              <a:t> function: f(</a:t>
            </a:r>
            <a:r>
              <a:rPr lang="en-US" dirty="0" err="1"/>
              <a:t>x,n</a:t>
            </a:r>
            <a:r>
              <a:rPr lang="en-US" dirty="0"/>
              <a:t>) = x</a:t>
            </a:r>
            <a:r>
              <a:rPr lang="en-US" baseline="30000" dirty="0"/>
              <a:t>2</a:t>
            </a:r>
            <a:r>
              <a:rPr lang="en-US" dirty="0"/>
              <a:t> mod n, n</a:t>
            </a:r>
          </a:p>
          <a:p>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524000"/>
            <a:ext cx="1981200" cy="19240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63863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FF"/>
                </a:solidFill>
              </a:rPr>
              <a:t>Pseudo-Random Functions </a:t>
            </a:r>
          </a:p>
        </p:txBody>
      </p:sp>
      <p:sp>
        <p:nvSpPr>
          <p:cNvPr id="3" name="Content Placeholder 2"/>
          <p:cNvSpPr>
            <a:spLocks noGrp="1"/>
          </p:cNvSpPr>
          <p:nvPr>
            <p:ph idx="1"/>
          </p:nvPr>
        </p:nvSpPr>
        <p:spPr/>
        <p:txBody>
          <a:bodyPr>
            <a:normAutofit/>
          </a:bodyPr>
          <a:lstStyle/>
          <a:p>
            <a:r>
              <a:rPr lang="en-US" dirty="0"/>
              <a:t>PRG provides sequential access to random bits</a:t>
            </a:r>
          </a:p>
          <a:p>
            <a:r>
              <a:rPr lang="en-US" dirty="0"/>
              <a:t>What if we want </a:t>
            </a:r>
            <a:r>
              <a:rPr lang="en-US" dirty="0">
                <a:solidFill>
                  <a:srgbClr val="FF0000"/>
                </a:solidFill>
              </a:rPr>
              <a:t>random access</a:t>
            </a:r>
            <a:r>
              <a:rPr lang="en-US" dirty="0"/>
              <a:t>?</a:t>
            </a:r>
          </a:p>
          <a:p>
            <a:pPr lvl="1"/>
            <a:r>
              <a:rPr lang="en-US" dirty="0"/>
              <a:t>Efficiency</a:t>
            </a:r>
          </a:p>
          <a:p>
            <a:pPr lvl="1"/>
            <a:r>
              <a:rPr lang="en-US" dirty="0"/>
              <a:t>No need to maintain state </a:t>
            </a:r>
          </a:p>
          <a:p>
            <a:pPr lvl="1"/>
            <a:r>
              <a:rPr lang="en-US" dirty="0" err="1">
                <a:solidFill>
                  <a:srgbClr val="FF0000"/>
                </a:solidFill>
              </a:rPr>
              <a:t>Pseuodo</a:t>
            </a:r>
            <a:r>
              <a:rPr lang="en-US" dirty="0">
                <a:solidFill>
                  <a:srgbClr val="FF0000"/>
                </a:solidFill>
              </a:rPr>
              <a:t>-random Function (PRF)</a:t>
            </a:r>
          </a:p>
          <a:p>
            <a:pPr lvl="2"/>
            <a:r>
              <a:rPr lang="en-US" dirty="0"/>
              <a:t>Compact representation of extremely long (pseudo-random) string</a:t>
            </a:r>
          </a:p>
          <a:p>
            <a:pPr lvl="2"/>
            <a:r>
              <a:rPr lang="en-US" dirty="0"/>
              <a:t>Allows “random access” instead of just sequential access</a:t>
            </a:r>
          </a:p>
        </p:txBody>
      </p:sp>
    </p:spTree>
    <p:extLst>
      <p:ext uri="{BB962C8B-B14F-4D97-AF65-F5344CB8AC3E}">
        <p14:creationId xmlns:p14="http://schemas.microsoft.com/office/powerpoint/2010/main" val="338369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FF"/>
                </a:solidFill>
              </a:rPr>
              <a:t>Pseudo-Random Functions </a:t>
            </a:r>
          </a:p>
        </p:txBody>
      </p:sp>
      <p:sp>
        <p:nvSpPr>
          <p:cNvPr id="3" name="Content Placeholder 2"/>
          <p:cNvSpPr>
            <a:spLocks noGrp="1"/>
          </p:cNvSpPr>
          <p:nvPr>
            <p:ph idx="1"/>
          </p:nvPr>
        </p:nvSpPr>
        <p:spPr/>
        <p:txBody>
          <a:bodyPr>
            <a:normAutofit/>
          </a:bodyPr>
          <a:lstStyle/>
          <a:p>
            <a:pPr marL="342900" lvl="2" indent="-342900"/>
            <a:r>
              <a:rPr lang="en-US" dirty="0"/>
              <a:t>F(</a:t>
            </a:r>
            <a:r>
              <a:rPr lang="en-US" dirty="0" err="1"/>
              <a:t>k,m</a:t>
            </a:r>
            <a:r>
              <a:rPr lang="en-US" dirty="0"/>
              <a:t>) outputs the </a:t>
            </a:r>
            <a:r>
              <a:rPr lang="en-US" dirty="0" err="1"/>
              <a:t>m’th</a:t>
            </a:r>
            <a:r>
              <a:rPr lang="en-US" dirty="0"/>
              <a:t> block of the pseudorandom string corresponding to seed k</a:t>
            </a:r>
          </a:p>
          <a:p>
            <a:pPr marL="342900" lvl="2" indent="-342900"/>
            <a:r>
              <a:rPr lang="en-US" dirty="0"/>
              <a:t>{0,1}</a:t>
            </a:r>
            <a:r>
              <a:rPr lang="en-US" baseline="30000" dirty="0"/>
              <a:t>k</a:t>
            </a:r>
            <a:r>
              <a:rPr lang="en-US" dirty="0"/>
              <a:t> * {0,1}</a:t>
            </a:r>
            <a:r>
              <a:rPr lang="en-US" baseline="30000" dirty="0"/>
              <a:t>m</a:t>
            </a:r>
            <a:r>
              <a:rPr lang="en-US" dirty="0"/>
              <a:t> -&gt; {0,1}</a:t>
            </a:r>
            <a:r>
              <a:rPr lang="en-US" baseline="30000" dirty="0"/>
              <a:t>n</a:t>
            </a:r>
          </a:p>
          <a:p>
            <a:pPr marL="342900" lvl="2" indent="-342900"/>
            <a:endParaRPr lang="en-US" baseline="30000" dirty="0"/>
          </a:p>
          <a:p>
            <a:pPr marL="342900" lvl="2" indent="-342900"/>
            <a:endParaRPr lang="en-US" baseline="30000" dirty="0"/>
          </a:p>
          <a:p>
            <a:pPr marL="342900" lvl="2" indent="-342900"/>
            <a:endParaRPr lang="en-US" baseline="30000" dirty="0"/>
          </a:p>
          <a:p>
            <a:pPr marL="342900" lvl="2" indent="-342900"/>
            <a:endParaRPr lang="en-US" baseline="30000" dirty="0"/>
          </a:p>
          <a:p>
            <a:pPr marL="342900" lvl="2" indent="-342900"/>
            <a:endParaRPr lang="en-US" baseline="30000" dirty="0"/>
          </a:p>
          <a:p>
            <a:pPr marL="342900" lvl="2" indent="-342900"/>
            <a:endParaRPr lang="en-US" baseline="30000" dirty="0"/>
          </a:p>
          <a:p>
            <a:pPr marL="342900" lvl="2" indent="-342900"/>
            <a:r>
              <a:rPr lang="en-US" dirty="0"/>
              <a:t>Alternative intuition:</a:t>
            </a:r>
          </a:p>
          <a:p>
            <a:pPr marL="800100" lvl="3" indent="-342900"/>
            <a:r>
              <a:rPr lang="en-US" dirty="0"/>
              <a:t>Consider a public family of deterministic functions: f1, f2, f3,….</a:t>
            </a:r>
          </a:p>
          <a:p>
            <a:pPr marL="800100" lvl="3" indent="-342900"/>
            <a:r>
              <a:rPr lang="en-US" dirty="0"/>
              <a:t>Secret Key K is the index to the family of functions</a:t>
            </a:r>
          </a:p>
          <a:p>
            <a:pPr marL="800100" lvl="3" indent="-342900"/>
            <a:endParaRPr lang="en-US" baseline="30000" dirty="0"/>
          </a:p>
          <a:p>
            <a:endParaRPr lang="en-US" dirty="0"/>
          </a:p>
        </p:txBody>
      </p:sp>
      <p:sp>
        <p:nvSpPr>
          <p:cNvPr id="5" name="Rectangle 4"/>
          <p:cNvSpPr/>
          <p:nvPr/>
        </p:nvSpPr>
        <p:spPr>
          <a:xfrm>
            <a:off x="2971800" y="3189905"/>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PRF</a:t>
            </a:r>
          </a:p>
        </p:txBody>
      </p:sp>
      <p:sp>
        <p:nvSpPr>
          <p:cNvPr id="6" name="Rectangle 5"/>
          <p:cNvSpPr/>
          <p:nvPr/>
        </p:nvSpPr>
        <p:spPr>
          <a:xfrm>
            <a:off x="2057400" y="3189905"/>
            <a:ext cx="30480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sp>
        <p:nvSpPr>
          <p:cNvPr id="8" name="Rectangle 7"/>
          <p:cNvSpPr/>
          <p:nvPr/>
        </p:nvSpPr>
        <p:spPr>
          <a:xfrm>
            <a:off x="2057400" y="3723305"/>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10" name="Straight Arrow Connector 9"/>
          <p:cNvCxnSpPr/>
          <p:nvPr/>
        </p:nvCxnSpPr>
        <p:spPr>
          <a:xfrm>
            <a:off x="2438400" y="3361355"/>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p:nvPr/>
        </p:nvCxnSpPr>
        <p:spPr>
          <a:xfrm>
            <a:off x="2438400" y="3723305"/>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4" name="Rectangle 13"/>
          <p:cNvSpPr/>
          <p:nvPr/>
        </p:nvSpPr>
        <p:spPr>
          <a:xfrm>
            <a:off x="4267200" y="3325976"/>
            <a:ext cx="30480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p>
        </p:txBody>
      </p:sp>
      <p:cxnSp>
        <p:nvCxnSpPr>
          <p:cNvPr id="15" name="Straight Arrow Connector 14"/>
          <p:cNvCxnSpPr/>
          <p:nvPr/>
        </p:nvCxnSpPr>
        <p:spPr>
          <a:xfrm>
            <a:off x="3657600" y="3532805"/>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3" name="TextBox 12"/>
          <p:cNvSpPr txBox="1"/>
          <p:nvPr/>
        </p:nvSpPr>
        <p:spPr>
          <a:xfrm>
            <a:off x="4953000" y="3299544"/>
            <a:ext cx="2253950" cy="369332"/>
          </a:xfrm>
          <a:prstGeom prst="rect">
            <a:avLst/>
          </a:prstGeom>
          <a:noFill/>
        </p:spPr>
        <p:txBody>
          <a:bodyPr wrap="none" rtlCol="0">
            <a:spAutoFit/>
          </a:bodyPr>
          <a:lstStyle/>
          <a:p>
            <a:r>
              <a:rPr lang="en-US" dirty="0"/>
              <a:t>N is “random looking”</a:t>
            </a:r>
          </a:p>
        </p:txBody>
      </p:sp>
    </p:spTree>
    <p:extLst>
      <p:ext uri="{BB962C8B-B14F-4D97-AF65-F5344CB8AC3E}">
        <p14:creationId xmlns:p14="http://schemas.microsoft.com/office/powerpoint/2010/main" val="298340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PRF Security as Indistinguishability Game (</a:t>
            </a:r>
            <a:r>
              <a:rPr lang="en-US" sz="3600" dirty="0">
                <a:solidFill>
                  <a:srgbClr val="0000FF"/>
                </a:solidFill>
              </a:rPr>
              <a:t>Between Adversary and Us</a:t>
            </a:r>
            <a:r>
              <a:rPr lang="en-US" dirty="0">
                <a:solidFill>
                  <a:srgbClr val="0000FF"/>
                </a:solidFill>
              </a:rPr>
              <a:t>) </a:t>
            </a:r>
          </a:p>
        </p:txBody>
      </p:sp>
      <p:sp>
        <p:nvSpPr>
          <p:cNvPr id="3" name="Content Placeholder 2"/>
          <p:cNvSpPr>
            <a:spLocks noGrp="1"/>
          </p:cNvSpPr>
          <p:nvPr>
            <p:ph idx="1"/>
          </p:nvPr>
        </p:nvSpPr>
        <p:spPr/>
        <p:txBody>
          <a:bodyPr>
            <a:normAutofit fontScale="77500" lnSpcReduction="20000"/>
          </a:bodyPr>
          <a:lstStyle/>
          <a:p>
            <a:pPr marL="0" indent="0">
              <a:buNone/>
            </a:pPr>
            <a:endParaRPr lang="en-US" dirty="0">
              <a:solidFill>
                <a:schemeClr val="accent3">
                  <a:lumMod val="75000"/>
                </a:schemeClr>
              </a:solidFill>
            </a:endParaRPr>
          </a:p>
          <a:p>
            <a:pPr marL="0" indent="0">
              <a:buNone/>
            </a:pPr>
            <a:r>
              <a:rPr lang="en-US" i="1" dirty="0">
                <a:solidFill>
                  <a:srgbClr val="FF0000"/>
                </a:solidFill>
              </a:rPr>
              <a:t>Repeat until Adversary says stop: </a:t>
            </a:r>
          </a:p>
          <a:p>
            <a:pPr marL="0" indent="0">
              <a:buNone/>
            </a:pPr>
            <a:r>
              <a:rPr lang="en-US" i="1" dirty="0">
                <a:solidFill>
                  <a:srgbClr val="FF0000"/>
                </a:solidFill>
              </a:rPr>
              <a:t>	Adversary chooses m</a:t>
            </a:r>
            <a:r>
              <a:rPr lang="en-US" i="1" baseline="-25000" dirty="0">
                <a:solidFill>
                  <a:srgbClr val="FF0000"/>
                </a:solidFill>
              </a:rPr>
              <a:t>i</a:t>
            </a:r>
          </a:p>
          <a:p>
            <a:pPr marL="0" indent="0">
              <a:buNone/>
            </a:pPr>
            <a:r>
              <a:rPr lang="en-US" i="1" baseline="-25000" dirty="0">
                <a:solidFill>
                  <a:srgbClr val="FF0000"/>
                </a:solidFill>
              </a:rPr>
              <a:t>	</a:t>
            </a:r>
            <a:r>
              <a:rPr lang="en-US" i="1" dirty="0">
                <a:solidFill>
                  <a:srgbClr val="FF0000"/>
                </a:solidFill>
              </a:rPr>
              <a:t>We return with 50/50 probability:</a:t>
            </a:r>
          </a:p>
          <a:p>
            <a:pPr marL="0" indent="0">
              <a:buNone/>
            </a:pPr>
            <a:r>
              <a:rPr lang="en-US" i="1" dirty="0">
                <a:solidFill>
                  <a:srgbClr val="FF0000"/>
                </a:solidFill>
              </a:rPr>
              <a:t>		Either a real random function R(m</a:t>
            </a:r>
            <a:r>
              <a:rPr lang="en-US" i="1" baseline="-25000" dirty="0">
                <a:solidFill>
                  <a:srgbClr val="FF0000"/>
                </a:solidFill>
              </a:rPr>
              <a:t>i</a:t>
            </a:r>
            <a:r>
              <a:rPr lang="en-US" i="1" dirty="0">
                <a:solidFill>
                  <a:srgbClr val="FF0000"/>
                </a:solidFill>
              </a:rPr>
              <a:t>), or</a:t>
            </a:r>
          </a:p>
          <a:p>
            <a:pPr marL="0" indent="0">
              <a:buNone/>
            </a:pPr>
            <a:r>
              <a:rPr lang="en-US" i="1" dirty="0">
                <a:solidFill>
                  <a:srgbClr val="FF0000"/>
                </a:solidFill>
              </a:rPr>
              <a:t>		F(K,m</a:t>
            </a:r>
            <a:r>
              <a:rPr lang="en-US" i="1" baseline="-25000" dirty="0">
                <a:solidFill>
                  <a:srgbClr val="FF0000"/>
                </a:solidFill>
              </a:rPr>
              <a:t>i</a:t>
            </a:r>
            <a:r>
              <a:rPr lang="en-US" i="1" dirty="0">
                <a:solidFill>
                  <a:srgbClr val="FF0000"/>
                </a:solidFill>
              </a:rPr>
              <a:t>)</a:t>
            </a:r>
          </a:p>
          <a:p>
            <a:pPr marL="0" indent="0">
              <a:buNone/>
            </a:pPr>
            <a:endParaRPr lang="en-US" dirty="0"/>
          </a:p>
          <a:p>
            <a:pPr marL="0" indent="0">
              <a:buNone/>
            </a:pPr>
            <a:r>
              <a:rPr lang="en-US" dirty="0"/>
              <a:t>Mallory wins if she guesses whether we chose truly random function or PRF</a:t>
            </a:r>
          </a:p>
          <a:p>
            <a:pPr marL="0" indent="0">
              <a:buNone/>
            </a:pPr>
            <a:endParaRPr lang="en-US" dirty="0"/>
          </a:p>
          <a:p>
            <a:pPr marL="0" indent="0">
              <a:buNone/>
            </a:pPr>
            <a:r>
              <a:rPr lang="en-US" dirty="0"/>
              <a:t>PRF is secure if Mallory’s advantage over random guess is “negligible”</a:t>
            </a:r>
          </a:p>
          <a:p>
            <a:endParaRPr lang="en-US" dirty="0"/>
          </a:p>
        </p:txBody>
      </p:sp>
    </p:spTree>
    <p:extLst>
      <p:ext uri="{BB962C8B-B14F-4D97-AF65-F5344CB8AC3E}">
        <p14:creationId xmlns:p14="http://schemas.microsoft.com/office/powerpoint/2010/main" val="2954453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How to create a PRF from PRG? </a:t>
            </a:r>
          </a:p>
        </p:txBody>
      </p:sp>
      <p:pic>
        <p:nvPicPr>
          <p:cNvPr id="512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99052" y="1752600"/>
            <a:ext cx="8087689" cy="4191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Rectangle 4"/>
          <p:cNvSpPr/>
          <p:nvPr/>
        </p:nvSpPr>
        <p:spPr>
          <a:xfrm>
            <a:off x="1915886" y="1600200"/>
            <a:ext cx="6324600" cy="4495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990600" y="495300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8" name="Straight Arrow Connector 7"/>
          <p:cNvCxnSpPr/>
          <p:nvPr/>
        </p:nvCxnSpPr>
        <p:spPr>
          <a:xfrm>
            <a:off x="1524000" y="5181600"/>
            <a:ext cx="304800" cy="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9" name="TextBox 8"/>
          <p:cNvSpPr txBox="1"/>
          <p:nvPr/>
        </p:nvSpPr>
        <p:spPr>
          <a:xfrm>
            <a:off x="4343400" y="6292334"/>
            <a:ext cx="534121" cy="369332"/>
          </a:xfrm>
          <a:prstGeom prst="rect">
            <a:avLst/>
          </a:prstGeom>
          <a:noFill/>
        </p:spPr>
        <p:txBody>
          <a:bodyPr wrap="none" rtlCol="0">
            <a:spAutoFit/>
          </a:bodyPr>
          <a:lstStyle/>
          <a:p>
            <a:r>
              <a:rPr lang="en-US" dirty="0"/>
              <a:t>PRF</a:t>
            </a:r>
          </a:p>
        </p:txBody>
      </p:sp>
    </p:spTree>
    <p:extLst>
      <p:ext uri="{BB962C8B-B14F-4D97-AF65-F5344CB8AC3E}">
        <p14:creationId xmlns:p14="http://schemas.microsoft.com/office/powerpoint/2010/main" val="120918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How to create a PRG from PRF?</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Given PRF </a:t>
            </a:r>
            <a:r>
              <a:rPr lang="en-US" i="1" dirty="0"/>
              <a:t>f</a:t>
            </a:r>
            <a:r>
              <a:rPr lang="en-US" dirty="0"/>
              <a:t> and a seed k</a:t>
            </a:r>
          </a:p>
          <a:p>
            <a:pPr marL="0" indent="0">
              <a:buNone/>
            </a:pPr>
            <a:r>
              <a:rPr lang="en-US" dirty="0"/>
              <a:t>Call f with key k and with “messages” 0, 1, 2….</a:t>
            </a:r>
          </a:p>
          <a:p>
            <a:pPr marL="0" indent="0">
              <a:buNone/>
            </a:pPr>
            <a:endParaRPr lang="en-US" dirty="0"/>
          </a:p>
          <a:p>
            <a:pPr marL="0" indent="0">
              <a:buNone/>
            </a:pPr>
            <a:r>
              <a:rPr lang="en-US" dirty="0"/>
              <a:t>Initialize</a:t>
            </a:r>
          </a:p>
          <a:p>
            <a:pPr marL="0" indent="0">
              <a:buNone/>
            </a:pPr>
            <a:r>
              <a:rPr lang="en-US" dirty="0"/>
              <a:t>	</a:t>
            </a:r>
            <a:r>
              <a:rPr lang="en-US" i="1" dirty="0"/>
              <a:t>count = 0</a:t>
            </a:r>
          </a:p>
          <a:p>
            <a:pPr marL="0" indent="0">
              <a:buNone/>
            </a:pPr>
            <a:r>
              <a:rPr lang="en-US" dirty="0"/>
              <a:t>Generate </a:t>
            </a:r>
          </a:p>
          <a:p>
            <a:pPr marL="0" indent="0">
              <a:buNone/>
            </a:pPr>
            <a:r>
              <a:rPr lang="en-US" i="1" dirty="0"/>
              <a:t>	output  f(seed, count)</a:t>
            </a:r>
          </a:p>
          <a:p>
            <a:pPr marL="0" indent="0">
              <a:buNone/>
            </a:pPr>
            <a:r>
              <a:rPr lang="en-US" i="1" dirty="0"/>
              <a:t>	count = count + 1</a:t>
            </a:r>
            <a:endParaRPr lang="en-US" dirty="0"/>
          </a:p>
          <a:p>
            <a:pPr marL="0" indent="0">
              <a:buNone/>
            </a:pPr>
            <a:endParaRPr lang="en-US" dirty="0"/>
          </a:p>
          <a:p>
            <a:pPr marL="0" indent="0">
              <a:buNone/>
            </a:pPr>
            <a:r>
              <a:rPr lang="en-US" dirty="0">
                <a:solidFill>
                  <a:srgbClr val="FF0000"/>
                </a:solidFill>
              </a:rPr>
              <a:t>Pretty good, but…</a:t>
            </a:r>
          </a:p>
          <a:p>
            <a:endParaRPr lang="en-US" dirty="0"/>
          </a:p>
        </p:txBody>
      </p:sp>
      <p:sp>
        <p:nvSpPr>
          <p:cNvPr id="5" name="Rectangle 4"/>
          <p:cNvSpPr/>
          <p:nvPr/>
        </p:nvSpPr>
        <p:spPr>
          <a:xfrm>
            <a:off x="6324600" y="2699657"/>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PRF</a:t>
            </a:r>
          </a:p>
        </p:txBody>
      </p:sp>
      <p:sp>
        <p:nvSpPr>
          <p:cNvPr id="6" name="Rectangle 5"/>
          <p:cNvSpPr/>
          <p:nvPr/>
        </p:nvSpPr>
        <p:spPr>
          <a:xfrm>
            <a:off x="5410200" y="2699657"/>
            <a:ext cx="30480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sp>
        <p:nvSpPr>
          <p:cNvPr id="7" name="Rectangle 6"/>
          <p:cNvSpPr/>
          <p:nvPr/>
        </p:nvSpPr>
        <p:spPr>
          <a:xfrm>
            <a:off x="5410200" y="3233057"/>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cxnSp>
        <p:nvCxnSpPr>
          <p:cNvPr id="8" name="Straight Arrow Connector 7"/>
          <p:cNvCxnSpPr/>
          <p:nvPr/>
        </p:nvCxnSpPr>
        <p:spPr>
          <a:xfrm>
            <a:off x="5791200" y="287110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9" name="Straight Arrow Connector 8"/>
          <p:cNvCxnSpPr/>
          <p:nvPr/>
        </p:nvCxnSpPr>
        <p:spPr>
          <a:xfrm>
            <a:off x="5791200" y="323305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p:nvPr/>
        </p:nvCxnSpPr>
        <p:spPr>
          <a:xfrm>
            <a:off x="7010400" y="304255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1" name="Rectangle 10"/>
          <p:cNvSpPr/>
          <p:nvPr/>
        </p:nvSpPr>
        <p:spPr>
          <a:xfrm>
            <a:off x="6324600" y="3861707"/>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PRF</a:t>
            </a:r>
          </a:p>
        </p:txBody>
      </p:sp>
      <p:sp>
        <p:nvSpPr>
          <p:cNvPr id="12" name="Rectangle 11"/>
          <p:cNvSpPr/>
          <p:nvPr/>
        </p:nvSpPr>
        <p:spPr>
          <a:xfrm>
            <a:off x="5410200" y="3861707"/>
            <a:ext cx="30480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sp>
        <p:nvSpPr>
          <p:cNvPr id="13" name="Rectangle 12"/>
          <p:cNvSpPr/>
          <p:nvPr/>
        </p:nvSpPr>
        <p:spPr>
          <a:xfrm>
            <a:off x="5410200" y="4395107"/>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14" name="Straight Arrow Connector 13"/>
          <p:cNvCxnSpPr/>
          <p:nvPr/>
        </p:nvCxnSpPr>
        <p:spPr>
          <a:xfrm>
            <a:off x="5791200" y="403315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p:nvPr/>
        </p:nvCxnSpPr>
        <p:spPr>
          <a:xfrm>
            <a:off x="5791200" y="439510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a:off x="7010400" y="420460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7" name="Rectangle 16"/>
          <p:cNvSpPr/>
          <p:nvPr/>
        </p:nvSpPr>
        <p:spPr>
          <a:xfrm>
            <a:off x="6324600" y="5004707"/>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PRF</a:t>
            </a:r>
          </a:p>
        </p:txBody>
      </p:sp>
      <p:sp>
        <p:nvSpPr>
          <p:cNvPr id="18" name="Rectangle 17"/>
          <p:cNvSpPr/>
          <p:nvPr/>
        </p:nvSpPr>
        <p:spPr>
          <a:xfrm>
            <a:off x="5410200" y="5004707"/>
            <a:ext cx="30480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p>
        </p:txBody>
      </p:sp>
      <p:sp>
        <p:nvSpPr>
          <p:cNvPr id="19" name="Rectangle 18"/>
          <p:cNvSpPr/>
          <p:nvPr/>
        </p:nvSpPr>
        <p:spPr>
          <a:xfrm>
            <a:off x="5410200" y="5538107"/>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0" name="Straight Arrow Connector 19"/>
          <p:cNvCxnSpPr/>
          <p:nvPr/>
        </p:nvCxnSpPr>
        <p:spPr>
          <a:xfrm>
            <a:off x="5791200" y="517615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1" name="Straight Arrow Connector 20"/>
          <p:cNvCxnSpPr/>
          <p:nvPr/>
        </p:nvCxnSpPr>
        <p:spPr>
          <a:xfrm>
            <a:off x="5791200" y="553810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2" name="Straight Arrow Connector 21"/>
          <p:cNvCxnSpPr/>
          <p:nvPr/>
        </p:nvCxnSpPr>
        <p:spPr>
          <a:xfrm>
            <a:off x="7010400" y="5347607"/>
            <a:ext cx="4572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4" name="Straight Connector 23"/>
          <p:cNvCxnSpPr/>
          <p:nvPr/>
        </p:nvCxnSpPr>
        <p:spPr>
          <a:xfrm>
            <a:off x="6640286" y="5943600"/>
            <a:ext cx="0" cy="6858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25" name="Rectangle 24"/>
          <p:cNvSpPr/>
          <p:nvPr/>
        </p:nvSpPr>
        <p:spPr>
          <a:xfrm>
            <a:off x="4953000" y="2514600"/>
            <a:ext cx="3287486" cy="4114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8382000" y="4213554"/>
            <a:ext cx="572080" cy="369332"/>
          </a:xfrm>
          <a:prstGeom prst="rect">
            <a:avLst/>
          </a:prstGeom>
          <a:noFill/>
        </p:spPr>
        <p:txBody>
          <a:bodyPr wrap="none" rtlCol="0">
            <a:spAutoFit/>
          </a:bodyPr>
          <a:lstStyle/>
          <a:p>
            <a:r>
              <a:rPr lang="en-US" dirty="0"/>
              <a:t>PRG</a:t>
            </a:r>
          </a:p>
        </p:txBody>
      </p:sp>
    </p:spTree>
    <p:extLst>
      <p:ext uri="{BB962C8B-B14F-4D97-AF65-F5344CB8AC3E}">
        <p14:creationId xmlns:p14="http://schemas.microsoft.com/office/powerpoint/2010/main" val="185848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2" grpId="0" animBg="1"/>
      <p:bldP spid="13" grpId="0" animBg="1"/>
      <p:bldP spid="17" grpId="0" animBg="1"/>
      <p:bldP spid="18" grpId="0" animBg="1"/>
      <p:bldP spid="19" grpId="0" animBg="1"/>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Forward Security? </a:t>
            </a:r>
          </a:p>
        </p:txBody>
      </p:sp>
      <p:sp>
        <p:nvSpPr>
          <p:cNvPr id="3" name="Content Placeholder 2"/>
          <p:cNvSpPr>
            <a:spLocks noGrp="1"/>
          </p:cNvSpPr>
          <p:nvPr>
            <p:ph idx="1"/>
          </p:nvPr>
        </p:nvSpPr>
        <p:spPr/>
        <p:txBody>
          <a:bodyPr/>
          <a:lstStyle/>
          <a:p>
            <a:r>
              <a:rPr lang="en-US" dirty="0"/>
              <a:t>What if adversary compromises (learns) generator’s state at some point in time?</a:t>
            </a:r>
          </a:p>
          <a:p>
            <a:pPr lvl="1"/>
            <a:r>
              <a:rPr lang="en-US" dirty="0">
                <a:solidFill>
                  <a:srgbClr val="FF0000"/>
                </a:solidFill>
              </a:rPr>
              <a:t>Forward security:  shouldn’t be able to reconstruct the output it produced at earlier times</a:t>
            </a:r>
          </a:p>
          <a:p>
            <a:endParaRPr lang="en-US" dirty="0">
              <a:solidFill>
                <a:srgbClr val="FF0000"/>
              </a:solidFill>
            </a:endParaRPr>
          </a:p>
          <a:p>
            <a:r>
              <a:rPr lang="en-US" dirty="0"/>
              <a:t>Useful for security, esp., generating crypto keys</a:t>
            </a:r>
          </a:p>
          <a:p>
            <a:endParaRPr lang="en-US" dirty="0"/>
          </a:p>
        </p:txBody>
      </p:sp>
    </p:spTree>
    <p:extLst>
      <p:ext uri="{BB962C8B-B14F-4D97-AF65-F5344CB8AC3E}">
        <p14:creationId xmlns:p14="http://schemas.microsoft.com/office/powerpoint/2010/main" val="3304225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Forward-secure PRG from PRF</a:t>
            </a:r>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marL="0" indent="0">
              <a:buNone/>
            </a:pPr>
            <a:r>
              <a:rPr lang="en-US" dirty="0"/>
              <a:t>Given a PRF f and a seed</a:t>
            </a:r>
          </a:p>
          <a:p>
            <a:pPr marL="0" indent="0">
              <a:buNone/>
            </a:pPr>
            <a:endParaRPr lang="en-US" dirty="0"/>
          </a:p>
          <a:p>
            <a:pPr marL="0" indent="0">
              <a:buNone/>
            </a:pPr>
            <a:r>
              <a:rPr lang="en-US" dirty="0"/>
              <a:t>Initialize</a:t>
            </a:r>
          </a:p>
          <a:p>
            <a:pPr marL="0" indent="0">
              <a:buNone/>
            </a:pPr>
            <a:r>
              <a:rPr lang="en-US" dirty="0"/>
              <a:t>	</a:t>
            </a:r>
            <a:r>
              <a:rPr lang="en-US" i="1" dirty="0"/>
              <a:t>state = seed</a:t>
            </a:r>
          </a:p>
          <a:p>
            <a:pPr marL="0" indent="0">
              <a:buNone/>
            </a:pPr>
            <a:r>
              <a:rPr lang="en-US" dirty="0"/>
              <a:t>Generate</a:t>
            </a:r>
          </a:p>
          <a:p>
            <a:pPr marL="0" indent="0">
              <a:buNone/>
            </a:pPr>
            <a:r>
              <a:rPr lang="en-US" dirty="0"/>
              <a:t>	</a:t>
            </a:r>
            <a:r>
              <a:rPr lang="en-US" i="1" dirty="0"/>
              <a:t>output  f(state, 0)</a:t>
            </a:r>
          </a:p>
          <a:p>
            <a:pPr marL="0" indent="0">
              <a:buNone/>
            </a:pPr>
            <a:r>
              <a:rPr lang="en-US" i="1" dirty="0"/>
              <a:t>	</a:t>
            </a:r>
            <a:r>
              <a:rPr lang="en-US" i="1" dirty="0">
                <a:solidFill>
                  <a:srgbClr val="FF0000"/>
                </a:solidFill>
              </a:rPr>
              <a:t>state = f(state, 1)</a:t>
            </a:r>
          </a:p>
          <a:p>
            <a:pPr marL="0" indent="0">
              <a:buNone/>
            </a:pPr>
            <a:endParaRPr lang="en-US" i="1" dirty="0"/>
          </a:p>
          <a:p>
            <a:pPr marL="0" indent="0">
              <a:buNone/>
            </a:pPr>
            <a:r>
              <a:rPr lang="en-US" dirty="0"/>
              <a:t>Why does this work? </a:t>
            </a:r>
            <a:r>
              <a:rPr lang="en-US" dirty="0">
                <a:solidFill>
                  <a:srgbClr val="FF0000"/>
                </a:solidFill>
              </a:rPr>
              <a:t>Iterated application of </a:t>
            </a:r>
            <a:r>
              <a:rPr lang="en-US" i="1" dirty="0">
                <a:solidFill>
                  <a:srgbClr val="FF0000"/>
                </a:solidFill>
              </a:rPr>
              <a:t>f</a:t>
            </a:r>
          </a:p>
          <a:p>
            <a:pPr marL="0" indent="0">
              <a:buNone/>
            </a:pPr>
            <a:endParaRPr lang="en-US" dirty="0"/>
          </a:p>
        </p:txBody>
      </p:sp>
    </p:spTree>
    <p:extLst>
      <p:ext uri="{BB962C8B-B14F-4D97-AF65-F5344CB8AC3E}">
        <p14:creationId xmlns:p14="http://schemas.microsoft.com/office/powerpoint/2010/main" val="313442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Recall: Threat Model &amp; </a:t>
            </a:r>
            <a:br>
              <a:rPr lang="en-US" dirty="0">
                <a:solidFill>
                  <a:srgbClr val="0000FF"/>
                </a:solidFill>
              </a:rPr>
            </a:br>
            <a:r>
              <a:rPr lang="en-US" dirty="0">
                <a:solidFill>
                  <a:srgbClr val="0000FF"/>
                </a:solidFill>
              </a:rPr>
              <a:t>Security Properties</a:t>
            </a:r>
          </a:p>
        </p:txBody>
      </p:sp>
      <p:sp>
        <p:nvSpPr>
          <p:cNvPr id="3" name="Content Placeholder 2"/>
          <p:cNvSpPr>
            <a:spLocks noGrp="1"/>
          </p:cNvSpPr>
          <p:nvPr>
            <p:ph idx="1"/>
          </p:nvPr>
        </p:nvSpPr>
        <p:spPr/>
        <p:txBody>
          <a:bodyPr>
            <a:normAutofit fontScale="850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Desired Security and Privacy Properties? </a:t>
            </a:r>
          </a:p>
          <a:p>
            <a:pPr lvl="1"/>
            <a:r>
              <a:rPr lang="en-US" dirty="0">
                <a:solidFill>
                  <a:srgbClr val="FF0000"/>
                </a:solidFill>
              </a:rPr>
              <a:t>Confidentiality</a:t>
            </a:r>
          </a:p>
          <a:p>
            <a:pPr lvl="1"/>
            <a:r>
              <a:rPr lang="en-US" dirty="0">
                <a:solidFill>
                  <a:srgbClr val="FF0000"/>
                </a:solidFill>
              </a:rPr>
              <a:t>Integrity</a:t>
            </a:r>
          </a:p>
          <a:p>
            <a:pPr lvl="1"/>
            <a:r>
              <a:rPr lang="en-US" dirty="0"/>
              <a:t>Availability</a:t>
            </a:r>
          </a:p>
          <a:p>
            <a:pPr lvl="1"/>
            <a:r>
              <a:rPr lang="en-US" dirty="0"/>
              <a:t>Anonymity</a:t>
            </a:r>
          </a:p>
          <a:p>
            <a:pPr lvl="1"/>
            <a:r>
              <a:rPr lang="en-US" dirty="0"/>
              <a:t>Access Control</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868375"/>
            <a:ext cx="2024842" cy="877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AutoShape 6"/>
          <p:cNvSpPr>
            <a:spLocks noChangeArrowheads="1"/>
          </p:cNvSpPr>
          <p:nvPr/>
        </p:nvSpPr>
        <p:spPr bwMode="auto">
          <a:xfrm>
            <a:off x="3124200" y="1608470"/>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en-US" dirty="0"/>
          </a:p>
          <a:p>
            <a:pPr algn="ctr"/>
            <a:endParaRPr lang="en-US" dirty="0"/>
          </a:p>
        </p:txBody>
      </p:sp>
      <p:sp>
        <p:nvSpPr>
          <p:cNvPr id="6" name="Line 7"/>
          <p:cNvSpPr>
            <a:spLocks noChangeShapeType="1"/>
          </p:cNvSpPr>
          <p:nvPr/>
        </p:nvSpPr>
        <p:spPr bwMode="auto">
          <a:xfrm>
            <a:off x="2133600" y="2359294"/>
            <a:ext cx="914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 name="Line 8"/>
          <p:cNvSpPr>
            <a:spLocks noChangeShapeType="1"/>
          </p:cNvSpPr>
          <p:nvPr/>
        </p:nvSpPr>
        <p:spPr bwMode="auto">
          <a:xfrm flipV="1">
            <a:off x="6000206" y="2306945"/>
            <a:ext cx="1010194" cy="1678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8" name="Picture 6" descr="C:\Users\mittal\AppData\Local\Microsoft\Windows\Temporary Internet Files\Content.IE5\OGRUXCMU\MP90031688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664350"/>
            <a:ext cx="1624215" cy="1389888"/>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lowchart: Connector 8"/>
          <p:cNvSpPr/>
          <p:nvPr/>
        </p:nvSpPr>
        <p:spPr>
          <a:xfrm>
            <a:off x="2590800" y="1411175"/>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https://encrypted-tbn0.gstatic.com/images?q=tbn:ANd9GcQ4beSoN1jSiwShx6Fvj2zKJrb_SZxJ_CP4nfzHNU6HGnx0xVGPz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4903" y="1980834"/>
            <a:ext cx="1224643" cy="685800"/>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TextBox 15"/>
          <p:cNvSpPr txBox="1"/>
          <p:nvPr/>
        </p:nvSpPr>
        <p:spPr>
          <a:xfrm>
            <a:off x="3367879" y="3054238"/>
            <a:ext cx="2302105" cy="369332"/>
          </a:xfrm>
          <a:prstGeom prst="rect">
            <a:avLst/>
          </a:prstGeom>
          <a:noFill/>
        </p:spPr>
        <p:txBody>
          <a:bodyPr wrap="none" rtlCol="0">
            <a:spAutoFit/>
          </a:bodyPr>
          <a:lstStyle/>
          <a:p>
            <a:r>
              <a:rPr lang="en-US" dirty="0"/>
              <a:t>Malicious network link</a:t>
            </a:r>
          </a:p>
        </p:txBody>
      </p:sp>
      <p:sp>
        <p:nvSpPr>
          <p:cNvPr id="17" name="TextBox 16"/>
          <p:cNvSpPr txBox="1"/>
          <p:nvPr/>
        </p:nvSpPr>
        <p:spPr>
          <a:xfrm>
            <a:off x="950950" y="3200400"/>
            <a:ext cx="806503" cy="369332"/>
          </a:xfrm>
          <a:prstGeom prst="rect">
            <a:avLst/>
          </a:prstGeom>
          <a:noFill/>
        </p:spPr>
        <p:txBody>
          <a:bodyPr wrap="none" rtlCol="0">
            <a:spAutoFit/>
          </a:bodyPr>
          <a:lstStyle/>
          <a:p>
            <a:r>
              <a:rPr lang="en-US" dirty="0"/>
              <a:t>“Alice”</a:t>
            </a:r>
          </a:p>
        </p:txBody>
      </p:sp>
      <p:sp>
        <p:nvSpPr>
          <p:cNvPr id="18" name="TextBox 17"/>
          <p:cNvSpPr txBox="1"/>
          <p:nvPr/>
        </p:nvSpPr>
        <p:spPr>
          <a:xfrm>
            <a:off x="7704464" y="3064341"/>
            <a:ext cx="742511" cy="369332"/>
          </a:xfrm>
          <a:prstGeom prst="rect">
            <a:avLst/>
          </a:prstGeom>
          <a:noFill/>
        </p:spPr>
        <p:txBody>
          <a:bodyPr wrap="none" rtlCol="0">
            <a:spAutoFit/>
          </a:bodyPr>
          <a:lstStyle/>
          <a:p>
            <a:r>
              <a:rPr lang="en-US" dirty="0"/>
              <a:t>“Bob”</a:t>
            </a:r>
          </a:p>
        </p:txBody>
      </p:sp>
    </p:spTree>
    <p:extLst>
      <p:ext uri="{BB962C8B-B14F-4D97-AF65-F5344CB8AC3E}">
        <p14:creationId xmlns:p14="http://schemas.microsoft.com/office/powerpoint/2010/main" val="123799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FF"/>
                </a:solidFill>
              </a:rPr>
              <a:t>How to Protect Integrity?</a:t>
            </a: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868375"/>
            <a:ext cx="2024842" cy="877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AutoShape 6"/>
          <p:cNvSpPr>
            <a:spLocks noChangeArrowheads="1"/>
          </p:cNvSpPr>
          <p:nvPr/>
        </p:nvSpPr>
        <p:spPr bwMode="auto">
          <a:xfrm>
            <a:off x="3124200" y="1608470"/>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en-US" dirty="0"/>
          </a:p>
          <a:p>
            <a:pPr algn="ctr"/>
            <a:endParaRPr lang="en-US" dirty="0"/>
          </a:p>
        </p:txBody>
      </p:sp>
      <p:sp>
        <p:nvSpPr>
          <p:cNvPr id="6" name="Line 7"/>
          <p:cNvSpPr>
            <a:spLocks noChangeShapeType="1"/>
          </p:cNvSpPr>
          <p:nvPr/>
        </p:nvSpPr>
        <p:spPr bwMode="auto">
          <a:xfrm>
            <a:off x="2133600" y="2359294"/>
            <a:ext cx="914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 name="Line 8"/>
          <p:cNvSpPr>
            <a:spLocks noChangeShapeType="1"/>
          </p:cNvSpPr>
          <p:nvPr/>
        </p:nvSpPr>
        <p:spPr bwMode="auto">
          <a:xfrm flipV="1">
            <a:off x="6000206" y="2306945"/>
            <a:ext cx="1010194" cy="1678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8" name="Picture 6" descr="C:\Users\mittal\AppData\Local\Microsoft\Windows\Temporary Internet Files\Content.IE5\OGRUXCMU\MP90031688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664350"/>
            <a:ext cx="1624215" cy="1389888"/>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lowchart: Connector 8"/>
          <p:cNvSpPr/>
          <p:nvPr/>
        </p:nvSpPr>
        <p:spPr>
          <a:xfrm>
            <a:off x="2590800" y="1411175"/>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https://encrypted-tbn0.gstatic.com/images?q=tbn:ANd9GcQ4beSoN1jSiwShx6Fvj2zKJrb_SZxJ_CP4nfzHNU6HGnx0xVGPz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4903" y="1980834"/>
            <a:ext cx="1224643" cy="685800"/>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TextBox 15"/>
          <p:cNvSpPr txBox="1"/>
          <p:nvPr/>
        </p:nvSpPr>
        <p:spPr>
          <a:xfrm>
            <a:off x="3367879" y="3054238"/>
            <a:ext cx="2302105" cy="369332"/>
          </a:xfrm>
          <a:prstGeom prst="rect">
            <a:avLst/>
          </a:prstGeom>
          <a:noFill/>
        </p:spPr>
        <p:txBody>
          <a:bodyPr wrap="none" rtlCol="0">
            <a:spAutoFit/>
          </a:bodyPr>
          <a:lstStyle/>
          <a:p>
            <a:r>
              <a:rPr lang="en-US" dirty="0"/>
              <a:t>Malicious network link</a:t>
            </a:r>
          </a:p>
        </p:txBody>
      </p:sp>
      <p:sp>
        <p:nvSpPr>
          <p:cNvPr id="17" name="TextBox 16"/>
          <p:cNvSpPr txBox="1"/>
          <p:nvPr/>
        </p:nvSpPr>
        <p:spPr>
          <a:xfrm>
            <a:off x="950950" y="3200400"/>
            <a:ext cx="806503" cy="369332"/>
          </a:xfrm>
          <a:prstGeom prst="rect">
            <a:avLst/>
          </a:prstGeom>
          <a:noFill/>
        </p:spPr>
        <p:txBody>
          <a:bodyPr wrap="none" rtlCol="0">
            <a:spAutoFit/>
          </a:bodyPr>
          <a:lstStyle/>
          <a:p>
            <a:r>
              <a:rPr lang="en-US" dirty="0"/>
              <a:t>“Alice”</a:t>
            </a:r>
          </a:p>
        </p:txBody>
      </p:sp>
      <p:sp>
        <p:nvSpPr>
          <p:cNvPr id="18" name="TextBox 17"/>
          <p:cNvSpPr txBox="1"/>
          <p:nvPr/>
        </p:nvSpPr>
        <p:spPr>
          <a:xfrm>
            <a:off x="7704464" y="3064341"/>
            <a:ext cx="742511" cy="369332"/>
          </a:xfrm>
          <a:prstGeom prst="rect">
            <a:avLst/>
          </a:prstGeom>
          <a:noFill/>
        </p:spPr>
        <p:txBody>
          <a:bodyPr wrap="none" rtlCol="0">
            <a:spAutoFit/>
          </a:bodyPr>
          <a:lstStyle/>
          <a:p>
            <a:r>
              <a:rPr lang="en-US" dirty="0"/>
              <a:t>“Bob”</a:t>
            </a:r>
          </a:p>
        </p:txBody>
      </p:sp>
      <p:sp>
        <p:nvSpPr>
          <p:cNvPr id="10" name="TextBox 9"/>
          <p:cNvSpPr txBox="1"/>
          <p:nvPr/>
        </p:nvSpPr>
        <p:spPr>
          <a:xfrm>
            <a:off x="2362200" y="1889755"/>
            <a:ext cx="486030" cy="369332"/>
          </a:xfrm>
          <a:prstGeom prst="rect">
            <a:avLst/>
          </a:prstGeom>
          <a:noFill/>
        </p:spPr>
        <p:txBody>
          <a:bodyPr wrap="none" rtlCol="0">
            <a:spAutoFit/>
          </a:bodyPr>
          <a:lstStyle/>
          <a:p>
            <a:r>
              <a:rPr lang="en-US" dirty="0"/>
              <a:t>m1</a:t>
            </a:r>
          </a:p>
        </p:txBody>
      </p:sp>
      <p:sp>
        <p:nvSpPr>
          <p:cNvPr id="15" name="TextBox 14"/>
          <p:cNvSpPr txBox="1"/>
          <p:nvPr/>
        </p:nvSpPr>
        <p:spPr>
          <a:xfrm>
            <a:off x="6320797" y="1857489"/>
            <a:ext cx="486030" cy="369332"/>
          </a:xfrm>
          <a:prstGeom prst="rect">
            <a:avLst/>
          </a:prstGeom>
          <a:noFill/>
        </p:spPr>
        <p:txBody>
          <a:bodyPr wrap="none" rtlCol="0">
            <a:spAutoFit/>
          </a:bodyPr>
          <a:lstStyle/>
          <a:p>
            <a:r>
              <a:rPr lang="en-US" dirty="0"/>
              <a:t>m2</a:t>
            </a:r>
          </a:p>
        </p:txBody>
      </p:sp>
      <p:sp>
        <p:nvSpPr>
          <p:cNvPr id="11" name="Rectangle 10"/>
          <p:cNvSpPr/>
          <p:nvPr/>
        </p:nvSpPr>
        <p:spPr>
          <a:xfrm>
            <a:off x="2081415" y="3385066"/>
            <a:ext cx="5623049" cy="10687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Idea: Alice can send a tag along with m1.</a:t>
            </a:r>
          </a:p>
          <a:p>
            <a:pPr algn="ctr"/>
            <a:r>
              <a:rPr lang="en-US" dirty="0"/>
              <a:t>Bob can </a:t>
            </a:r>
            <a:r>
              <a:rPr lang="en-US" dirty="0" err="1"/>
              <a:t>recompute</a:t>
            </a:r>
            <a:r>
              <a:rPr lang="en-US" dirty="0"/>
              <a:t> tag and check if it matches.</a:t>
            </a:r>
          </a:p>
          <a:p>
            <a:pPr algn="ctr"/>
            <a:r>
              <a:rPr lang="en-US" dirty="0"/>
              <a:t>Tag is known as message authentication code (MAC)</a:t>
            </a:r>
          </a:p>
          <a:p>
            <a:pPr algn="ctr"/>
            <a:endParaRPr lang="en-US" dirty="0"/>
          </a:p>
        </p:txBody>
      </p:sp>
      <p:pic>
        <p:nvPicPr>
          <p:cNvPr id="1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158" y="4910991"/>
            <a:ext cx="2024842" cy="877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0" name="AutoShape 6"/>
          <p:cNvSpPr>
            <a:spLocks noChangeArrowheads="1"/>
          </p:cNvSpPr>
          <p:nvPr/>
        </p:nvSpPr>
        <p:spPr bwMode="auto">
          <a:xfrm>
            <a:off x="3232958" y="4651086"/>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en-US" dirty="0"/>
          </a:p>
          <a:p>
            <a:pPr algn="ctr"/>
            <a:endParaRPr lang="en-US" dirty="0"/>
          </a:p>
        </p:txBody>
      </p:sp>
      <p:sp>
        <p:nvSpPr>
          <p:cNvPr id="21" name="Line 7"/>
          <p:cNvSpPr>
            <a:spLocks noChangeShapeType="1"/>
          </p:cNvSpPr>
          <p:nvPr/>
        </p:nvSpPr>
        <p:spPr bwMode="auto">
          <a:xfrm>
            <a:off x="2242358" y="5401910"/>
            <a:ext cx="914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2" name="Line 8"/>
          <p:cNvSpPr>
            <a:spLocks noChangeShapeType="1"/>
          </p:cNvSpPr>
          <p:nvPr/>
        </p:nvSpPr>
        <p:spPr bwMode="auto">
          <a:xfrm flipV="1">
            <a:off x="6108964" y="5349561"/>
            <a:ext cx="1010194" cy="1678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23" name="Picture 6" descr="C:\Users\mittal\AppData\Local\Microsoft\Windows\Temporary Internet Files\Content.IE5\OGRUXCMU\MP90031688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958" y="4706966"/>
            <a:ext cx="1624215" cy="1389888"/>
          </a:xfrm>
          <a:prstGeom prst="rect">
            <a:avLst/>
          </a:prstGeom>
          <a:noFill/>
          <a:extLst>
            <a:ext uri="{909E8E84-426E-40dd-AFC4-6F175D3DCCD1}">
              <a14:hiddenFill xmlns:a14="http://schemas.microsoft.com/office/drawing/2010/main" xmlns="">
                <a:solidFill>
                  <a:srgbClr val="FFFFFF"/>
                </a:solidFill>
              </a14:hiddenFill>
            </a:ext>
          </a:extLst>
        </p:spPr>
      </p:pic>
      <p:sp>
        <p:nvSpPr>
          <p:cNvPr id="24" name="Flowchart: Connector 23"/>
          <p:cNvSpPr/>
          <p:nvPr/>
        </p:nvSpPr>
        <p:spPr>
          <a:xfrm>
            <a:off x="2699558" y="4453791"/>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4" descr="https://encrypted-tbn0.gstatic.com/images?q=tbn:ANd9GcQ4beSoN1jSiwShx6Fvj2zKJrb_SZxJ_CP4nfzHNU6HGnx0xVGPz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3661" y="5023450"/>
            <a:ext cx="1224643" cy="685800"/>
          </a:xfrm>
          <a:prstGeom prst="rect">
            <a:avLst/>
          </a:prstGeom>
          <a:noFill/>
          <a:extLst>
            <a:ext uri="{909E8E84-426E-40dd-AFC4-6F175D3DCCD1}">
              <a14:hiddenFill xmlns:a14="http://schemas.microsoft.com/office/drawing/2010/main" xmlns="">
                <a:solidFill>
                  <a:srgbClr val="FFFFFF"/>
                </a:solidFill>
              </a14:hiddenFill>
            </a:ext>
          </a:extLst>
        </p:spPr>
      </p:pic>
      <p:sp>
        <p:nvSpPr>
          <p:cNvPr id="26" name="TextBox 25"/>
          <p:cNvSpPr txBox="1"/>
          <p:nvPr/>
        </p:nvSpPr>
        <p:spPr>
          <a:xfrm>
            <a:off x="3476637" y="6096854"/>
            <a:ext cx="2302105" cy="369332"/>
          </a:xfrm>
          <a:prstGeom prst="rect">
            <a:avLst/>
          </a:prstGeom>
          <a:noFill/>
        </p:spPr>
        <p:txBody>
          <a:bodyPr wrap="none" rtlCol="0">
            <a:spAutoFit/>
          </a:bodyPr>
          <a:lstStyle/>
          <a:p>
            <a:r>
              <a:rPr lang="en-US" dirty="0"/>
              <a:t>Malicious network link</a:t>
            </a:r>
          </a:p>
        </p:txBody>
      </p:sp>
      <p:sp>
        <p:nvSpPr>
          <p:cNvPr id="27" name="TextBox 26"/>
          <p:cNvSpPr txBox="1"/>
          <p:nvPr/>
        </p:nvSpPr>
        <p:spPr>
          <a:xfrm>
            <a:off x="1059708" y="6243016"/>
            <a:ext cx="806503" cy="369332"/>
          </a:xfrm>
          <a:prstGeom prst="rect">
            <a:avLst/>
          </a:prstGeom>
          <a:noFill/>
        </p:spPr>
        <p:txBody>
          <a:bodyPr wrap="none" rtlCol="0">
            <a:spAutoFit/>
          </a:bodyPr>
          <a:lstStyle/>
          <a:p>
            <a:r>
              <a:rPr lang="en-US" dirty="0"/>
              <a:t>“Alice”</a:t>
            </a:r>
          </a:p>
        </p:txBody>
      </p:sp>
      <p:sp>
        <p:nvSpPr>
          <p:cNvPr id="28" name="TextBox 27"/>
          <p:cNvSpPr txBox="1"/>
          <p:nvPr/>
        </p:nvSpPr>
        <p:spPr>
          <a:xfrm>
            <a:off x="7813222" y="6106957"/>
            <a:ext cx="742511" cy="369332"/>
          </a:xfrm>
          <a:prstGeom prst="rect">
            <a:avLst/>
          </a:prstGeom>
          <a:noFill/>
        </p:spPr>
        <p:txBody>
          <a:bodyPr wrap="none" rtlCol="0">
            <a:spAutoFit/>
          </a:bodyPr>
          <a:lstStyle/>
          <a:p>
            <a:r>
              <a:rPr lang="en-US" dirty="0"/>
              <a:t>“Bob”</a:t>
            </a:r>
          </a:p>
        </p:txBody>
      </p:sp>
      <p:sp>
        <p:nvSpPr>
          <p:cNvPr id="29" name="TextBox 28"/>
          <p:cNvSpPr txBox="1"/>
          <p:nvPr/>
        </p:nvSpPr>
        <p:spPr>
          <a:xfrm>
            <a:off x="2172398" y="4749239"/>
            <a:ext cx="1332801" cy="369332"/>
          </a:xfrm>
          <a:prstGeom prst="rect">
            <a:avLst/>
          </a:prstGeom>
          <a:noFill/>
        </p:spPr>
        <p:txBody>
          <a:bodyPr wrap="none" rtlCol="0">
            <a:spAutoFit/>
          </a:bodyPr>
          <a:lstStyle/>
          <a:p>
            <a:r>
              <a:rPr lang="en-US" dirty="0"/>
              <a:t>m1, tag(m1)</a:t>
            </a:r>
          </a:p>
        </p:txBody>
      </p:sp>
      <p:sp>
        <p:nvSpPr>
          <p:cNvPr id="30" name="TextBox 29"/>
          <p:cNvSpPr txBox="1"/>
          <p:nvPr/>
        </p:nvSpPr>
        <p:spPr>
          <a:xfrm>
            <a:off x="6248835" y="4838784"/>
            <a:ext cx="811441" cy="369332"/>
          </a:xfrm>
          <a:prstGeom prst="rect">
            <a:avLst/>
          </a:prstGeom>
          <a:noFill/>
        </p:spPr>
        <p:txBody>
          <a:bodyPr wrap="none" rtlCol="0">
            <a:spAutoFit/>
          </a:bodyPr>
          <a:lstStyle/>
          <a:p>
            <a:r>
              <a:rPr lang="en-US" dirty="0"/>
              <a:t>m2, ??</a:t>
            </a:r>
          </a:p>
        </p:txBody>
      </p:sp>
    </p:spTree>
    <p:extLst>
      <p:ext uri="{BB962C8B-B14F-4D97-AF65-F5344CB8AC3E}">
        <p14:creationId xmlns:p14="http://schemas.microsoft.com/office/powerpoint/2010/main" val="90943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 grpId="0" animBg="1"/>
      <p:bldP spid="21" grpId="0" animBg="1"/>
      <p:bldP spid="22" grpId="0" animBg="1"/>
      <p:bldP spid="24" grpId="0" animBg="1"/>
      <p:bldP spid="26" grpId="0"/>
      <p:bldP spid="27" grpId="0"/>
      <p:bldP spid="28" grpId="0"/>
      <p:bldP spid="29"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Message Authentication Code (MAC)</a:t>
            </a:r>
          </a:p>
        </p:txBody>
      </p:sp>
      <p:sp>
        <p:nvSpPr>
          <p:cNvPr id="3" name="Content Placeholder 2"/>
          <p:cNvSpPr>
            <a:spLocks noGrp="1"/>
          </p:cNvSpPr>
          <p:nvPr>
            <p:ph idx="1"/>
          </p:nvPr>
        </p:nvSpPr>
        <p:spPr/>
        <p:txBody>
          <a:bodyPr/>
          <a:lstStyle/>
          <a:p>
            <a:r>
              <a:rPr lang="en-US" dirty="0"/>
              <a:t>Deterministic</a:t>
            </a:r>
          </a:p>
          <a:p>
            <a:r>
              <a:rPr lang="en-US" dirty="0"/>
              <a:t>Depends on message m</a:t>
            </a:r>
          </a:p>
          <a:p>
            <a:r>
              <a:rPr lang="en-US" dirty="0"/>
              <a:t>Easily computable by Alice and Bob</a:t>
            </a:r>
          </a:p>
          <a:p>
            <a:r>
              <a:rPr lang="en-US" dirty="0">
                <a:solidFill>
                  <a:srgbClr val="FF0000"/>
                </a:solidFill>
              </a:rPr>
              <a:t>Not computable by adversary</a:t>
            </a:r>
          </a:p>
          <a:p>
            <a:pPr lvl="1"/>
            <a:r>
              <a:rPr lang="en-US" dirty="0"/>
              <a:t>Otherwise it can forge</a:t>
            </a:r>
          </a:p>
          <a:p>
            <a:pPr lvl="1"/>
            <a:r>
              <a:rPr lang="en-US" dirty="0">
                <a:solidFill>
                  <a:srgbClr val="FF0000"/>
                </a:solidFill>
              </a:rPr>
              <a:t>Implies shared secret (k) between Alice and Bob</a:t>
            </a:r>
          </a:p>
          <a:p>
            <a:pPr lvl="1"/>
            <a:endParaRPr lang="en-US" dirty="0">
              <a:solidFill>
                <a:srgbClr val="FF0000"/>
              </a:solidFill>
            </a:endParaRPr>
          </a:p>
          <a:p>
            <a:r>
              <a:rPr lang="en-US" dirty="0">
                <a:solidFill>
                  <a:srgbClr val="FF0000"/>
                </a:solidFill>
              </a:rPr>
              <a:t>Even integrity relies on </a:t>
            </a:r>
            <a:r>
              <a:rPr lang="en-US">
                <a:solidFill>
                  <a:srgbClr val="FF0000"/>
                </a:solidFill>
              </a:rPr>
              <a:t>shared keys/secrets</a:t>
            </a:r>
            <a:endParaRPr lang="en-US" dirty="0">
              <a:solidFill>
                <a:srgbClr val="FF0000"/>
              </a:solidFill>
            </a:endParaRPr>
          </a:p>
        </p:txBody>
      </p:sp>
    </p:spTree>
    <p:extLst>
      <p:ext uri="{BB962C8B-B14F-4D97-AF65-F5344CB8AC3E}">
        <p14:creationId xmlns:p14="http://schemas.microsoft.com/office/powerpoint/2010/main" val="1231318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Integrity via </a:t>
            </a:r>
            <a:br>
              <a:rPr lang="en-US" dirty="0">
                <a:solidFill>
                  <a:srgbClr val="0000FF"/>
                </a:solidFill>
              </a:rPr>
            </a:br>
            <a:r>
              <a:rPr lang="en-US" dirty="0">
                <a:solidFill>
                  <a:srgbClr val="0000FF"/>
                </a:solidFill>
              </a:rPr>
              <a:t>Message Authentication Codes</a:t>
            </a:r>
          </a:p>
        </p:txBody>
      </p:sp>
      <p:sp>
        <p:nvSpPr>
          <p:cNvPr id="3" name="Content Placeholder 2"/>
          <p:cNvSpPr>
            <a:spLocks noGrp="1"/>
          </p:cNvSpPr>
          <p:nvPr>
            <p:ph idx="1"/>
          </p:nvPr>
        </p:nvSpPr>
        <p:spPr/>
        <p:txBody>
          <a:bodyPr/>
          <a:lstStyle/>
          <a:p>
            <a:endParaRPr lang="en-US" dirty="0"/>
          </a:p>
        </p:txBody>
      </p:sp>
      <p:grpSp>
        <p:nvGrpSpPr>
          <p:cNvPr id="26" name="Group 25"/>
          <p:cNvGrpSpPr/>
          <p:nvPr/>
        </p:nvGrpSpPr>
        <p:grpSpPr>
          <a:xfrm>
            <a:off x="457200" y="1575625"/>
            <a:ext cx="8578042" cy="2158557"/>
            <a:chOff x="457200" y="1575625"/>
            <a:chExt cx="8578042" cy="2158557"/>
          </a:xfrm>
        </p:grpSpPr>
        <p:pic>
          <p:nvPicPr>
            <p:cNvPr id="1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2032825"/>
              <a:ext cx="2024842" cy="877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5" name="AutoShape 6"/>
            <p:cNvSpPr>
              <a:spLocks noChangeArrowheads="1"/>
            </p:cNvSpPr>
            <p:nvPr/>
          </p:nvSpPr>
          <p:spPr bwMode="auto">
            <a:xfrm>
              <a:off x="3124200" y="1772920"/>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en-US" dirty="0"/>
            </a:p>
            <a:p>
              <a:pPr algn="ctr"/>
              <a:endParaRPr lang="en-US" dirty="0"/>
            </a:p>
          </p:txBody>
        </p:sp>
        <p:sp>
          <p:nvSpPr>
            <p:cNvPr id="16" name="Line 7"/>
            <p:cNvSpPr>
              <a:spLocks noChangeShapeType="1"/>
            </p:cNvSpPr>
            <p:nvPr/>
          </p:nvSpPr>
          <p:spPr bwMode="auto">
            <a:xfrm>
              <a:off x="2133600" y="2523744"/>
              <a:ext cx="914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7" name="Line 8"/>
            <p:cNvSpPr>
              <a:spLocks noChangeShapeType="1"/>
            </p:cNvSpPr>
            <p:nvPr/>
          </p:nvSpPr>
          <p:spPr bwMode="auto">
            <a:xfrm flipV="1">
              <a:off x="6000206" y="2471395"/>
              <a:ext cx="1010194" cy="1678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18" name="Picture 6" descr="C:\Users\mittal\AppData\Local\Microsoft\Windows\Temporary Internet Files\Content.IE5\OGRUXCMU\MP90031688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828800"/>
              <a:ext cx="1624215" cy="1389888"/>
            </a:xfrm>
            <a:prstGeom prst="rect">
              <a:avLst/>
            </a:prstGeom>
            <a:noFill/>
            <a:extLst>
              <a:ext uri="{909E8E84-426E-40dd-AFC4-6F175D3DCCD1}">
                <a14:hiddenFill xmlns:a14="http://schemas.microsoft.com/office/drawing/2010/main" xmlns="">
                  <a:solidFill>
                    <a:srgbClr val="FFFFFF"/>
                  </a:solidFill>
                </a14:hiddenFill>
              </a:ext>
            </a:extLst>
          </p:spPr>
        </p:pic>
        <p:sp>
          <p:nvSpPr>
            <p:cNvPr id="19" name="Flowchart: Connector 18"/>
            <p:cNvSpPr/>
            <p:nvPr/>
          </p:nvSpPr>
          <p:spPr>
            <a:xfrm>
              <a:off x="2590800" y="1575625"/>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4" descr="https://encrypted-tbn0.gstatic.com/images?q=tbn:ANd9GcQ4beSoN1jSiwShx6Fvj2zKJrb_SZxJ_CP4nfzHNU6HGnx0xVGPz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4903" y="2145284"/>
              <a:ext cx="1224643" cy="685800"/>
            </a:xfrm>
            <a:prstGeom prst="rect">
              <a:avLst/>
            </a:prstGeom>
            <a:noFill/>
            <a:extLst>
              <a:ext uri="{909E8E84-426E-40dd-AFC4-6F175D3DCCD1}">
                <a14:hiddenFill xmlns:a14="http://schemas.microsoft.com/office/drawing/2010/main" xmlns="">
                  <a:solidFill>
                    <a:srgbClr val="FFFFFF"/>
                  </a:solidFill>
                </a14:hiddenFill>
              </a:ext>
            </a:extLst>
          </p:spPr>
        </p:pic>
        <p:sp>
          <p:nvSpPr>
            <p:cNvPr id="21" name="TextBox 20"/>
            <p:cNvSpPr txBox="1"/>
            <p:nvPr/>
          </p:nvSpPr>
          <p:spPr>
            <a:xfrm>
              <a:off x="3367879" y="3218688"/>
              <a:ext cx="2302105" cy="369332"/>
            </a:xfrm>
            <a:prstGeom prst="rect">
              <a:avLst/>
            </a:prstGeom>
            <a:noFill/>
          </p:spPr>
          <p:txBody>
            <a:bodyPr wrap="none" rtlCol="0">
              <a:spAutoFit/>
            </a:bodyPr>
            <a:lstStyle/>
            <a:p>
              <a:r>
                <a:rPr lang="en-US" dirty="0"/>
                <a:t>Malicious network link</a:t>
              </a:r>
            </a:p>
          </p:txBody>
        </p:sp>
        <p:sp>
          <p:nvSpPr>
            <p:cNvPr id="22" name="TextBox 21"/>
            <p:cNvSpPr txBox="1"/>
            <p:nvPr/>
          </p:nvSpPr>
          <p:spPr>
            <a:xfrm>
              <a:off x="950950" y="3364850"/>
              <a:ext cx="806503" cy="369332"/>
            </a:xfrm>
            <a:prstGeom prst="rect">
              <a:avLst/>
            </a:prstGeom>
            <a:noFill/>
          </p:spPr>
          <p:txBody>
            <a:bodyPr wrap="none" rtlCol="0">
              <a:spAutoFit/>
            </a:bodyPr>
            <a:lstStyle/>
            <a:p>
              <a:r>
                <a:rPr lang="en-US" dirty="0"/>
                <a:t>“Alice”</a:t>
              </a:r>
            </a:p>
          </p:txBody>
        </p:sp>
        <p:sp>
          <p:nvSpPr>
            <p:cNvPr id="23" name="TextBox 22"/>
            <p:cNvSpPr txBox="1"/>
            <p:nvPr/>
          </p:nvSpPr>
          <p:spPr>
            <a:xfrm>
              <a:off x="7704464" y="3228791"/>
              <a:ext cx="742511" cy="369332"/>
            </a:xfrm>
            <a:prstGeom prst="rect">
              <a:avLst/>
            </a:prstGeom>
            <a:noFill/>
          </p:spPr>
          <p:txBody>
            <a:bodyPr wrap="none" rtlCol="0">
              <a:spAutoFit/>
            </a:bodyPr>
            <a:lstStyle/>
            <a:p>
              <a:r>
                <a:rPr lang="en-US" dirty="0"/>
                <a:t>“Bob”</a:t>
              </a:r>
            </a:p>
          </p:txBody>
        </p:sp>
        <p:sp>
          <p:nvSpPr>
            <p:cNvPr id="24" name="TextBox 23"/>
            <p:cNvSpPr txBox="1"/>
            <p:nvPr/>
          </p:nvSpPr>
          <p:spPr>
            <a:xfrm>
              <a:off x="2063640" y="1871073"/>
              <a:ext cx="1306768" cy="369332"/>
            </a:xfrm>
            <a:prstGeom prst="rect">
              <a:avLst/>
            </a:prstGeom>
            <a:noFill/>
          </p:spPr>
          <p:txBody>
            <a:bodyPr wrap="none" rtlCol="0">
              <a:spAutoFit/>
            </a:bodyPr>
            <a:lstStyle/>
            <a:p>
              <a:r>
                <a:rPr lang="en-US" dirty="0"/>
                <a:t>m1, F(k,m1)</a:t>
              </a:r>
            </a:p>
          </p:txBody>
        </p:sp>
        <p:sp>
          <p:nvSpPr>
            <p:cNvPr id="25" name="TextBox 24"/>
            <p:cNvSpPr txBox="1"/>
            <p:nvPr/>
          </p:nvSpPr>
          <p:spPr>
            <a:xfrm>
              <a:off x="6000206" y="1883148"/>
              <a:ext cx="1306768" cy="369332"/>
            </a:xfrm>
            <a:prstGeom prst="rect">
              <a:avLst/>
            </a:prstGeom>
            <a:noFill/>
          </p:spPr>
          <p:txBody>
            <a:bodyPr wrap="none" rtlCol="0">
              <a:spAutoFit/>
            </a:bodyPr>
            <a:lstStyle/>
            <a:p>
              <a:r>
                <a:rPr lang="en-US" dirty="0"/>
                <a:t>m1, F(k,m1)</a:t>
              </a:r>
            </a:p>
          </p:txBody>
        </p:sp>
      </p:grpSp>
      <p:grpSp>
        <p:nvGrpSpPr>
          <p:cNvPr id="27" name="Group 26"/>
          <p:cNvGrpSpPr/>
          <p:nvPr/>
        </p:nvGrpSpPr>
        <p:grpSpPr>
          <a:xfrm>
            <a:off x="457200" y="4191000"/>
            <a:ext cx="8578042" cy="2158557"/>
            <a:chOff x="457200" y="1575625"/>
            <a:chExt cx="8578042" cy="2158557"/>
          </a:xfrm>
        </p:grpSpPr>
        <p:pic>
          <p:nvPicPr>
            <p:cNvPr id="2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2032825"/>
              <a:ext cx="2024842" cy="877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9" name="AutoShape 6"/>
            <p:cNvSpPr>
              <a:spLocks noChangeArrowheads="1"/>
            </p:cNvSpPr>
            <p:nvPr/>
          </p:nvSpPr>
          <p:spPr bwMode="auto">
            <a:xfrm>
              <a:off x="3124200" y="1772920"/>
              <a:ext cx="2789464" cy="1316831"/>
            </a:xfrm>
            <a:prstGeom prst="cloudCallout">
              <a:avLst>
                <a:gd name="adj1" fmla="val -58445"/>
                <a:gd name="adj2" fmla="val -59258"/>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en-US" dirty="0"/>
            </a:p>
            <a:p>
              <a:pPr algn="ctr"/>
              <a:endParaRPr lang="en-US" dirty="0"/>
            </a:p>
          </p:txBody>
        </p:sp>
        <p:sp>
          <p:nvSpPr>
            <p:cNvPr id="30" name="Line 7"/>
            <p:cNvSpPr>
              <a:spLocks noChangeShapeType="1"/>
            </p:cNvSpPr>
            <p:nvPr/>
          </p:nvSpPr>
          <p:spPr bwMode="auto">
            <a:xfrm>
              <a:off x="2133600" y="2523744"/>
              <a:ext cx="914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31" name="Line 8"/>
            <p:cNvSpPr>
              <a:spLocks noChangeShapeType="1"/>
            </p:cNvSpPr>
            <p:nvPr/>
          </p:nvSpPr>
          <p:spPr bwMode="auto">
            <a:xfrm flipV="1">
              <a:off x="6000206" y="2471395"/>
              <a:ext cx="1010194" cy="1678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32" name="Picture 6" descr="C:\Users\mittal\AppData\Local\Microsoft\Windows\Temporary Internet Files\Content.IE5\OGRUXCMU\MP90031688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828800"/>
              <a:ext cx="1624215" cy="1389888"/>
            </a:xfrm>
            <a:prstGeom prst="rect">
              <a:avLst/>
            </a:prstGeom>
            <a:noFill/>
            <a:extLst>
              <a:ext uri="{909E8E84-426E-40dd-AFC4-6F175D3DCCD1}">
                <a14:hiddenFill xmlns:a14="http://schemas.microsoft.com/office/drawing/2010/main" xmlns="">
                  <a:solidFill>
                    <a:srgbClr val="FFFFFF"/>
                  </a:solidFill>
                </a14:hiddenFill>
              </a:ext>
            </a:extLst>
          </p:spPr>
        </p:pic>
        <p:sp>
          <p:nvSpPr>
            <p:cNvPr id="33" name="Flowchart: Connector 32"/>
            <p:cNvSpPr/>
            <p:nvPr/>
          </p:nvSpPr>
          <p:spPr>
            <a:xfrm>
              <a:off x="2590800" y="1575625"/>
              <a:ext cx="914400" cy="457200"/>
            </a:xfrm>
            <a:prstGeom prst="flowChartConnector">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4" descr="https://encrypted-tbn0.gstatic.com/images?q=tbn:ANd9GcQ4beSoN1jSiwShx6Fvj2zKJrb_SZxJ_CP4nfzHNU6HGnx0xVGPz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4903" y="2145284"/>
              <a:ext cx="1224643" cy="685800"/>
            </a:xfrm>
            <a:prstGeom prst="rect">
              <a:avLst/>
            </a:prstGeom>
            <a:noFill/>
            <a:extLst>
              <a:ext uri="{909E8E84-426E-40dd-AFC4-6F175D3DCCD1}">
                <a14:hiddenFill xmlns:a14="http://schemas.microsoft.com/office/drawing/2010/main" xmlns="">
                  <a:solidFill>
                    <a:srgbClr val="FFFFFF"/>
                  </a:solidFill>
                </a14:hiddenFill>
              </a:ext>
            </a:extLst>
          </p:spPr>
        </p:pic>
        <p:sp>
          <p:nvSpPr>
            <p:cNvPr id="35" name="TextBox 34"/>
            <p:cNvSpPr txBox="1"/>
            <p:nvPr/>
          </p:nvSpPr>
          <p:spPr>
            <a:xfrm>
              <a:off x="3367879" y="3218688"/>
              <a:ext cx="2302105" cy="369332"/>
            </a:xfrm>
            <a:prstGeom prst="rect">
              <a:avLst/>
            </a:prstGeom>
            <a:noFill/>
          </p:spPr>
          <p:txBody>
            <a:bodyPr wrap="none" rtlCol="0">
              <a:spAutoFit/>
            </a:bodyPr>
            <a:lstStyle/>
            <a:p>
              <a:r>
                <a:rPr lang="en-US" dirty="0"/>
                <a:t>Malicious network link</a:t>
              </a:r>
            </a:p>
          </p:txBody>
        </p:sp>
        <p:sp>
          <p:nvSpPr>
            <p:cNvPr id="36" name="TextBox 35"/>
            <p:cNvSpPr txBox="1"/>
            <p:nvPr/>
          </p:nvSpPr>
          <p:spPr>
            <a:xfrm>
              <a:off x="950950" y="3364850"/>
              <a:ext cx="806503" cy="369332"/>
            </a:xfrm>
            <a:prstGeom prst="rect">
              <a:avLst/>
            </a:prstGeom>
            <a:noFill/>
          </p:spPr>
          <p:txBody>
            <a:bodyPr wrap="none" rtlCol="0">
              <a:spAutoFit/>
            </a:bodyPr>
            <a:lstStyle/>
            <a:p>
              <a:r>
                <a:rPr lang="en-US" dirty="0"/>
                <a:t>“Alice”</a:t>
              </a:r>
            </a:p>
          </p:txBody>
        </p:sp>
        <p:sp>
          <p:nvSpPr>
            <p:cNvPr id="37" name="TextBox 36"/>
            <p:cNvSpPr txBox="1"/>
            <p:nvPr/>
          </p:nvSpPr>
          <p:spPr>
            <a:xfrm>
              <a:off x="7704464" y="3228791"/>
              <a:ext cx="742511" cy="369332"/>
            </a:xfrm>
            <a:prstGeom prst="rect">
              <a:avLst/>
            </a:prstGeom>
            <a:noFill/>
          </p:spPr>
          <p:txBody>
            <a:bodyPr wrap="none" rtlCol="0">
              <a:spAutoFit/>
            </a:bodyPr>
            <a:lstStyle/>
            <a:p>
              <a:r>
                <a:rPr lang="en-US" dirty="0"/>
                <a:t>“Bob”</a:t>
              </a:r>
            </a:p>
          </p:txBody>
        </p:sp>
        <p:sp>
          <p:nvSpPr>
            <p:cNvPr id="38" name="TextBox 37"/>
            <p:cNvSpPr txBox="1"/>
            <p:nvPr/>
          </p:nvSpPr>
          <p:spPr>
            <a:xfrm>
              <a:off x="2063640" y="1871073"/>
              <a:ext cx="1306768" cy="369332"/>
            </a:xfrm>
            <a:prstGeom prst="rect">
              <a:avLst/>
            </a:prstGeom>
            <a:noFill/>
          </p:spPr>
          <p:txBody>
            <a:bodyPr wrap="none" rtlCol="0">
              <a:spAutoFit/>
            </a:bodyPr>
            <a:lstStyle/>
            <a:p>
              <a:r>
                <a:rPr lang="en-US" dirty="0"/>
                <a:t>m1, F(k,m1)</a:t>
              </a:r>
            </a:p>
          </p:txBody>
        </p:sp>
        <p:sp>
          <p:nvSpPr>
            <p:cNvPr id="39" name="TextBox 38"/>
            <p:cNvSpPr txBox="1"/>
            <p:nvPr/>
          </p:nvSpPr>
          <p:spPr>
            <a:xfrm>
              <a:off x="6000206" y="1883148"/>
              <a:ext cx="1417376" cy="369332"/>
            </a:xfrm>
            <a:prstGeom prst="rect">
              <a:avLst/>
            </a:prstGeom>
            <a:noFill/>
          </p:spPr>
          <p:txBody>
            <a:bodyPr wrap="none" rtlCol="0">
              <a:spAutoFit/>
            </a:bodyPr>
            <a:lstStyle/>
            <a:p>
              <a:r>
                <a:rPr lang="en-US" dirty="0"/>
                <a:t>m2, F(??,m2)</a:t>
              </a:r>
            </a:p>
          </p:txBody>
        </p:sp>
      </p:grpSp>
      <p:sp>
        <p:nvSpPr>
          <p:cNvPr id="40" name="Rectangle 39"/>
          <p:cNvSpPr/>
          <p:nvPr/>
        </p:nvSpPr>
        <p:spPr>
          <a:xfrm>
            <a:off x="7549292" y="1559423"/>
            <a:ext cx="1186642" cy="64744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Accepted</a:t>
            </a:r>
          </a:p>
        </p:txBody>
      </p:sp>
      <p:sp>
        <p:nvSpPr>
          <p:cNvPr id="41" name="Rectangle 40"/>
          <p:cNvSpPr/>
          <p:nvPr/>
        </p:nvSpPr>
        <p:spPr>
          <a:xfrm>
            <a:off x="7549292" y="4035740"/>
            <a:ext cx="1186642" cy="64744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Rejected</a:t>
            </a:r>
          </a:p>
        </p:txBody>
      </p:sp>
    </p:spTree>
    <p:extLst>
      <p:ext uri="{BB962C8B-B14F-4D97-AF65-F5344CB8AC3E}">
        <p14:creationId xmlns:p14="http://schemas.microsoft.com/office/powerpoint/2010/main" val="1050374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“Secure MAC game”</a:t>
            </a:r>
            <a:br>
              <a:rPr lang="en-US" dirty="0">
                <a:solidFill>
                  <a:srgbClr val="0000FF"/>
                </a:solidFill>
              </a:rPr>
            </a:br>
            <a:r>
              <a:rPr lang="en-US" dirty="0">
                <a:solidFill>
                  <a:srgbClr val="0000FF"/>
                </a:solidFill>
              </a:rPr>
              <a:t>Us vs. Adversary</a:t>
            </a:r>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Repeat until Adversary says stop</a:t>
            </a:r>
          </a:p>
          <a:p>
            <a:pPr marL="0" indent="0">
              <a:buNone/>
            </a:pPr>
            <a:r>
              <a:rPr lang="en-US" dirty="0">
                <a:solidFill>
                  <a:srgbClr val="FF0000"/>
                </a:solidFill>
              </a:rPr>
              <a:t>	Adversary chooses </a:t>
            </a:r>
            <a:r>
              <a:rPr lang="en-US" i="1" dirty="0">
                <a:solidFill>
                  <a:srgbClr val="FF0000"/>
                </a:solidFill>
              </a:rPr>
              <a:t>m</a:t>
            </a:r>
            <a:r>
              <a:rPr lang="en-US" i="1" baseline="-25000" dirty="0">
                <a:solidFill>
                  <a:srgbClr val="FF0000"/>
                </a:solidFill>
              </a:rPr>
              <a:t>i</a:t>
            </a:r>
          </a:p>
          <a:p>
            <a:pPr marL="0" indent="0">
              <a:buNone/>
            </a:pPr>
            <a:r>
              <a:rPr lang="en-US" dirty="0">
                <a:solidFill>
                  <a:srgbClr val="FF0000"/>
                </a:solidFill>
              </a:rPr>
              <a:t>	We tell Adversary </a:t>
            </a:r>
            <a:r>
              <a:rPr lang="en-US" i="1" dirty="0">
                <a:solidFill>
                  <a:srgbClr val="FF0000"/>
                </a:solidFill>
              </a:rPr>
              <a:t>f(m</a:t>
            </a:r>
            <a:r>
              <a:rPr lang="en-US" i="1" baseline="-25000" dirty="0">
                <a:solidFill>
                  <a:srgbClr val="FF0000"/>
                </a:solidFill>
              </a:rPr>
              <a:t>i</a:t>
            </a:r>
            <a:r>
              <a:rPr lang="en-US" i="1" dirty="0">
                <a:solidFill>
                  <a:srgbClr val="FF0000"/>
                </a:solidFill>
              </a:rPr>
              <a:t>)</a:t>
            </a:r>
          </a:p>
          <a:p>
            <a:pPr marL="0" indent="0">
              <a:buNone/>
            </a:pPr>
            <a:r>
              <a:rPr lang="en-US" dirty="0">
                <a:solidFill>
                  <a:srgbClr val="FF0000"/>
                </a:solidFill>
              </a:rPr>
              <a:t>Adversary picks </a:t>
            </a:r>
            <a:r>
              <a:rPr lang="en-US" i="1" dirty="0">
                <a:solidFill>
                  <a:srgbClr val="FF0000"/>
                </a:solidFill>
              </a:rPr>
              <a:t>m’ ∉ {m</a:t>
            </a:r>
            <a:r>
              <a:rPr lang="en-US" i="1" baseline="-25000" dirty="0">
                <a:solidFill>
                  <a:srgbClr val="FF0000"/>
                </a:solidFill>
              </a:rPr>
              <a:t>i</a:t>
            </a:r>
            <a:r>
              <a:rPr lang="en-US" i="1" dirty="0">
                <a:solidFill>
                  <a:srgbClr val="FF0000"/>
                </a:solidFill>
              </a:rPr>
              <a:t>}</a:t>
            </a:r>
            <a:r>
              <a:rPr lang="en-US" dirty="0">
                <a:solidFill>
                  <a:srgbClr val="FF0000"/>
                </a:solidFill>
              </a:rPr>
              <a:t> and guesses </a:t>
            </a:r>
            <a:r>
              <a:rPr lang="en-US" i="1" dirty="0">
                <a:solidFill>
                  <a:srgbClr val="FF0000"/>
                </a:solidFill>
              </a:rPr>
              <a:t>f(m’)</a:t>
            </a:r>
          </a:p>
          <a:p>
            <a:pPr marL="0" indent="0">
              <a:buNone/>
            </a:pPr>
            <a:endParaRPr lang="en-US" dirty="0"/>
          </a:p>
          <a:p>
            <a:pPr marL="0" indent="0">
              <a:buNone/>
            </a:pPr>
            <a:r>
              <a:rPr lang="en-US" i="1" dirty="0"/>
              <a:t>f</a:t>
            </a:r>
            <a:r>
              <a:rPr lang="en-US" dirty="0"/>
              <a:t> is a secure MAC if </a:t>
            </a:r>
          </a:p>
          <a:p>
            <a:pPr marL="0" indent="0">
              <a:buNone/>
            </a:pPr>
            <a:r>
              <a:rPr lang="en-US" dirty="0"/>
              <a:t>adversary can’t do better than random guessing</a:t>
            </a:r>
          </a:p>
          <a:p>
            <a:pPr marL="0" indent="0">
              <a:buNone/>
            </a:pPr>
            <a:endParaRPr lang="en-US" dirty="0"/>
          </a:p>
        </p:txBody>
      </p:sp>
      <p:pic>
        <p:nvPicPr>
          <p:cNvPr id="4098" name="Picture 2" descr="https://encrypted-tbn1.gstatic.com/images?q=tbn:ANd9GcRzUkSIrPrP8DEeHZs6x3wV8lr42DszxGiD9FN3ycM19AL0Po6ES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828800"/>
            <a:ext cx="1905000" cy="11430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43237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Theorem: if F is a PRF then F is a secure MAC</a:t>
            </a:r>
          </a:p>
        </p:txBody>
      </p:sp>
      <p:sp>
        <p:nvSpPr>
          <p:cNvPr id="3" name="Content Placeholder 2"/>
          <p:cNvSpPr>
            <a:spLocks noGrp="1"/>
          </p:cNvSpPr>
          <p:nvPr>
            <p:ph idx="1"/>
          </p:nvPr>
        </p:nvSpPr>
        <p:spPr/>
        <p:txBody>
          <a:bodyPr>
            <a:normAutofit/>
          </a:bodyPr>
          <a:lstStyle/>
          <a:p>
            <a:r>
              <a:rPr lang="en-US" dirty="0"/>
              <a:t>Proof sketch:</a:t>
            </a:r>
          </a:p>
          <a:p>
            <a:pPr lvl="1"/>
            <a:r>
              <a:rPr lang="en-US" dirty="0"/>
              <a:t>by contradiction</a:t>
            </a:r>
          </a:p>
          <a:p>
            <a:pPr lvl="2"/>
            <a:r>
              <a:rPr lang="en-US" dirty="0">
                <a:solidFill>
                  <a:srgbClr val="FF0000"/>
                </a:solidFill>
              </a:rPr>
              <a:t>assume f is a PRF and f is not a secure MAC</a:t>
            </a:r>
          </a:p>
          <a:p>
            <a:pPr lvl="2"/>
            <a:r>
              <a:rPr lang="en-US" dirty="0">
                <a:solidFill>
                  <a:srgbClr val="FF0000"/>
                </a:solidFill>
              </a:rPr>
              <a:t>therefore Mallory can win the secure MAC game for f</a:t>
            </a:r>
          </a:p>
          <a:p>
            <a:pPr lvl="2"/>
            <a:r>
              <a:rPr lang="en-US" dirty="0">
                <a:solidFill>
                  <a:srgbClr val="FF0000"/>
                </a:solidFill>
              </a:rPr>
              <a:t>therefore Mallory can win the PRF game for f</a:t>
            </a:r>
          </a:p>
          <a:p>
            <a:pPr lvl="2"/>
            <a:r>
              <a:rPr lang="en-US" dirty="0">
                <a:solidFill>
                  <a:srgbClr val="FF0000"/>
                </a:solidFill>
              </a:rPr>
              <a:t>therefore f is not a PRF</a:t>
            </a:r>
          </a:p>
          <a:p>
            <a:pPr lvl="2"/>
            <a:r>
              <a:rPr lang="en-US" dirty="0"/>
              <a:t>contradiction</a:t>
            </a:r>
          </a:p>
        </p:txBody>
      </p:sp>
    </p:spTree>
    <p:extLst>
      <p:ext uri="{BB962C8B-B14F-4D97-AF65-F5344CB8AC3E}">
        <p14:creationId xmlns:p14="http://schemas.microsoft.com/office/powerpoint/2010/main" val="3986771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Note: Replay Attacks and Defenses</a:t>
            </a:r>
          </a:p>
        </p:txBody>
      </p:sp>
      <p:sp>
        <p:nvSpPr>
          <p:cNvPr id="3" name="Content Placeholder 2"/>
          <p:cNvSpPr>
            <a:spLocks noGrp="1"/>
          </p:cNvSpPr>
          <p:nvPr>
            <p:ph idx="1"/>
          </p:nvPr>
        </p:nvSpPr>
        <p:spPr/>
        <p:txBody>
          <a:bodyPr>
            <a:normAutofit fontScale="85000" lnSpcReduction="20000"/>
          </a:bodyPr>
          <a:lstStyle/>
          <a:p>
            <a:r>
              <a:rPr lang="en-US" dirty="0">
                <a:solidFill>
                  <a:srgbClr val="FF0000"/>
                </a:solidFill>
              </a:rPr>
              <a:t>For multiple messages, replay attacks exist</a:t>
            </a:r>
          </a:p>
          <a:p>
            <a:r>
              <a:rPr lang="en-US" dirty="0">
                <a:solidFill>
                  <a:srgbClr val="FF0000"/>
                </a:solidFill>
              </a:rPr>
              <a:t>Solution: add freshness to prevent reuse</a:t>
            </a:r>
          </a:p>
          <a:p>
            <a:r>
              <a:rPr lang="en-US" dirty="0"/>
              <a:t>Nonces (aka “number used once”): an arbitrary value used once per secure communication session</a:t>
            </a:r>
          </a:p>
          <a:p>
            <a:pPr lvl="1"/>
            <a:r>
              <a:rPr lang="en-US" dirty="0"/>
              <a:t>“Arbitrary” = doesn’t have to be random (can be counter-based) and is often public</a:t>
            </a:r>
          </a:p>
          <a:p>
            <a:pPr lvl="1"/>
            <a:r>
              <a:rPr lang="en-US" dirty="0"/>
              <a:t>“Used only once” = </a:t>
            </a:r>
            <a:r>
              <a:rPr lang="en-US" dirty="0">
                <a:solidFill>
                  <a:srgbClr val="FF0000"/>
                </a:solidFill>
              </a:rPr>
              <a:t>the same (key, nonce) pair is never reused</a:t>
            </a:r>
          </a:p>
          <a:p>
            <a:pPr lvl="1"/>
            <a:r>
              <a:rPr lang="en-US" dirty="0"/>
              <a:t>Uses:</a:t>
            </a:r>
          </a:p>
          <a:p>
            <a:pPr lvl="2"/>
            <a:r>
              <a:rPr lang="en-US" dirty="0"/>
              <a:t> </a:t>
            </a:r>
            <a:r>
              <a:rPr lang="en-US" dirty="0" err="1"/>
              <a:t>MessageID</a:t>
            </a:r>
            <a:r>
              <a:rPr lang="en-US" dirty="0"/>
              <a:t>: acts as unique identifier per message  (for later assignments)</a:t>
            </a:r>
          </a:p>
          <a:p>
            <a:pPr lvl="2"/>
            <a:r>
              <a:rPr lang="en-US" dirty="0"/>
              <a:t>Key derivation: used to derive unique key for encryption (important tip for this week) </a:t>
            </a:r>
            <a:r>
              <a:rPr lang="en-US" dirty="0">
                <a:sym typeface="Wingdings" pitchFamily="2" charset="2"/>
              </a:rPr>
              <a:t> </a:t>
            </a:r>
            <a:endParaRPr lang="en-US" dirty="0"/>
          </a:p>
        </p:txBody>
      </p:sp>
    </p:spTree>
    <p:extLst>
      <p:ext uri="{BB962C8B-B14F-4D97-AF65-F5344CB8AC3E}">
        <p14:creationId xmlns:p14="http://schemas.microsoft.com/office/powerpoint/2010/main" val="2710241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Authenticated Encryption: Both Confidentiality and Integrity</a:t>
            </a:r>
          </a:p>
        </p:txBody>
      </p:sp>
      <p:sp>
        <p:nvSpPr>
          <p:cNvPr id="3" name="Content Placeholder 2"/>
          <p:cNvSpPr>
            <a:spLocks noGrp="1"/>
          </p:cNvSpPr>
          <p:nvPr>
            <p:ph idx="1"/>
          </p:nvPr>
        </p:nvSpPr>
        <p:spPr/>
        <p:txBody>
          <a:bodyPr>
            <a:normAutofit fontScale="92500"/>
          </a:bodyPr>
          <a:lstStyle/>
          <a:p>
            <a:r>
              <a:rPr lang="en-US" dirty="0">
                <a:solidFill>
                  <a:srgbClr val="FF0000"/>
                </a:solidFill>
              </a:rPr>
              <a:t>Can combine encryption (cipher) with integrity (MAC) </a:t>
            </a:r>
          </a:p>
          <a:p>
            <a:r>
              <a:rPr lang="en-US" dirty="0"/>
              <a:t>How to combine? </a:t>
            </a:r>
            <a:r>
              <a:rPr lang="en-US" dirty="0">
                <a:solidFill>
                  <a:srgbClr val="FF0000"/>
                </a:solidFill>
              </a:rPr>
              <a:t>Encrypt and then add integrity</a:t>
            </a:r>
          </a:p>
          <a:p>
            <a:pPr lvl="1"/>
            <a:r>
              <a:rPr lang="en-US" dirty="0"/>
              <a:t>Correct approach: E(x) || M(E(x))</a:t>
            </a:r>
          </a:p>
          <a:p>
            <a:pPr lvl="1"/>
            <a:r>
              <a:rPr lang="en-US" dirty="0"/>
              <a:t>Subtle problems with other approaches</a:t>
            </a:r>
          </a:p>
          <a:p>
            <a:r>
              <a:rPr lang="en-US" dirty="0">
                <a:solidFill>
                  <a:srgbClr val="FF0000"/>
                </a:solidFill>
              </a:rPr>
              <a:t>Use different keys for encryption and MAC</a:t>
            </a:r>
          </a:p>
          <a:p>
            <a:pPr lvl="1"/>
            <a:r>
              <a:rPr lang="en-US" dirty="0"/>
              <a:t>For Bob to Alice messages </a:t>
            </a:r>
            <a:r>
              <a:rPr lang="en-US" dirty="0">
                <a:sym typeface="Wingdings" panose="05000000000000000000" pitchFamily="2" charset="2"/>
              </a:rPr>
              <a:t> another 2 keys</a:t>
            </a:r>
          </a:p>
          <a:p>
            <a:pPr lvl="1"/>
            <a:r>
              <a:rPr lang="en-US" dirty="0">
                <a:sym typeface="Wingdings" panose="05000000000000000000" pitchFamily="2" charset="2"/>
              </a:rPr>
              <a:t>Need 4 keys but only have 1? </a:t>
            </a:r>
          </a:p>
          <a:p>
            <a:pPr lvl="2"/>
            <a:r>
              <a:rPr lang="en-US" dirty="0">
                <a:sym typeface="Wingdings" panose="05000000000000000000" pitchFamily="2" charset="2"/>
              </a:rPr>
              <a:t>Use PRGs to get 4 keys from a single key</a:t>
            </a:r>
            <a:endParaRPr lang="en-US" dirty="0"/>
          </a:p>
        </p:txBody>
      </p:sp>
    </p:spTree>
    <p:extLst>
      <p:ext uri="{BB962C8B-B14F-4D97-AF65-F5344CB8AC3E}">
        <p14:creationId xmlns:p14="http://schemas.microsoft.com/office/powerpoint/2010/main" val="39646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FF"/>
                </a:solidFill>
              </a:rPr>
              <a:t>Authenticated Encryption: Both Confidentiality and Integrity</a:t>
            </a:r>
          </a:p>
        </p:txBody>
      </p:sp>
      <p:sp>
        <p:nvSpPr>
          <p:cNvPr id="3" name="Content Placeholder 2"/>
          <p:cNvSpPr>
            <a:spLocks noGrp="1"/>
          </p:cNvSpPr>
          <p:nvPr>
            <p:ph idx="1"/>
          </p:nvPr>
        </p:nvSpPr>
        <p:spPr/>
        <p:txBody>
          <a:bodyPr>
            <a:normAutofit/>
          </a:bodyPr>
          <a:lstStyle/>
          <a:p>
            <a:r>
              <a:rPr lang="en-US" dirty="0"/>
              <a:t>Given k, generate k1 and k2 using PRG</a:t>
            </a:r>
          </a:p>
          <a:p>
            <a:endParaRPr lang="en-US" dirty="0"/>
          </a:p>
          <a:p>
            <a:r>
              <a:rPr lang="en-US" dirty="0" err="1"/>
              <a:t>Authenc</a:t>
            </a:r>
            <a:r>
              <a:rPr lang="en-US" dirty="0"/>
              <a:t>(</a:t>
            </a:r>
            <a:r>
              <a:rPr lang="en-US" dirty="0" err="1"/>
              <a:t>k,nonce,m</a:t>
            </a:r>
            <a:r>
              <a:rPr lang="en-US" dirty="0"/>
              <a:t>) = </a:t>
            </a:r>
          </a:p>
          <a:p>
            <a:pPr marL="0" indent="0">
              <a:buNone/>
            </a:pPr>
            <a:r>
              <a:rPr lang="en-US" dirty="0"/>
              <a:t>    </a:t>
            </a:r>
            <a:r>
              <a:rPr lang="en-US" dirty="0" err="1"/>
              <a:t>Enc</a:t>
            </a:r>
            <a:r>
              <a:rPr lang="en-US" dirty="0"/>
              <a:t>(k1,nonce,m) || </a:t>
            </a:r>
          </a:p>
          <a:p>
            <a:pPr marL="0" indent="0">
              <a:buNone/>
            </a:pPr>
            <a:r>
              <a:rPr lang="en-US" dirty="0"/>
              <a:t>    Mac(k2,nonce,(</a:t>
            </a:r>
            <a:r>
              <a:rPr lang="en-US" dirty="0" err="1"/>
              <a:t>Enc</a:t>
            </a:r>
            <a:r>
              <a:rPr lang="en-US" dirty="0"/>
              <a:t>(k1,nonce,m)) || nonce</a:t>
            </a:r>
          </a:p>
        </p:txBody>
      </p:sp>
    </p:spTree>
    <p:extLst>
      <p:ext uri="{BB962C8B-B14F-4D97-AF65-F5344CB8AC3E}">
        <p14:creationId xmlns:p14="http://schemas.microsoft.com/office/powerpoint/2010/main" val="2444487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Summary</a:t>
            </a:r>
          </a:p>
        </p:txBody>
      </p:sp>
      <p:sp>
        <p:nvSpPr>
          <p:cNvPr id="3" name="Content Placeholder 2"/>
          <p:cNvSpPr>
            <a:spLocks noGrp="1"/>
          </p:cNvSpPr>
          <p:nvPr>
            <p:ph idx="1"/>
          </p:nvPr>
        </p:nvSpPr>
        <p:spPr/>
        <p:txBody>
          <a:bodyPr/>
          <a:lstStyle/>
          <a:p>
            <a:r>
              <a:rPr lang="en-US" dirty="0"/>
              <a:t>Pseudorandom Number Generator</a:t>
            </a:r>
          </a:p>
          <a:p>
            <a:r>
              <a:rPr lang="en-US" dirty="0"/>
              <a:t>Stream Cipher</a:t>
            </a:r>
          </a:p>
          <a:p>
            <a:r>
              <a:rPr lang="en-US" dirty="0"/>
              <a:t>Pseudorandom Functions</a:t>
            </a:r>
          </a:p>
          <a:p>
            <a:r>
              <a:rPr lang="en-US" dirty="0"/>
              <a:t>Forward Secrecy</a:t>
            </a:r>
          </a:p>
          <a:p>
            <a:r>
              <a:rPr lang="en-US" dirty="0"/>
              <a:t>Integrity via Message Authentication Codes</a:t>
            </a:r>
          </a:p>
        </p:txBody>
      </p:sp>
    </p:spTree>
    <p:extLst>
      <p:ext uri="{BB962C8B-B14F-4D97-AF65-F5344CB8AC3E}">
        <p14:creationId xmlns:p14="http://schemas.microsoft.com/office/powerpoint/2010/main" val="451757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Homework 1</a:t>
            </a:r>
          </a:p>
        </p:txBody>
      </p:sp>
      <p:sp>
        <p:nvSpPr>
          <p:cNvPr id="3" name="Content Placeholder 2"/>
          <p:cNvSpPr>
            <a:spLocks noGrp="1"/>
          </p:cNvSpPr>
          <p:nvPr>
            <p:ph idx="1"/>
          </p:nvPr>
        </p:nvSpPr>
        <p:spPr/>
        <p:txBody>
          <a:bodyPr>
            <a:normAutofit fontScale="92500" lnSpcReduction="20000"/>
          </a:bodyPr>
          <a:lstStyle/>
          <a:p>
            <a:r>
              <a:rPr lang="en-US" dirty="0"/>
              <a:t>Implement</a:t>
            </a:r>
          </a:p>
          <a:p>
            <a:pPr lvl="1"/>
            <a:r>
              <a:rPr lang="en-US" dirty="0"/>
              <a:t>PRG</a:t>
            </a:r>
          </a:p>
          <a:p>
            <a:pPr lvl="1"/>
            <a:r>
              <a:rPr lang="en-US" dirty="0"/>
              <a:t>Stream Cipher</a:t>
            </a:r>
          </a:p>
          <a:p>
            <a:r>
              <a:rPr lang="en-US" dirty="0"/>
              <a:t>Due next Thursday</a:t>
            </a:r>
          </a:p>
          <a:p>
            <a:pPr lvl="1"/>
            <a:r>
              <a:rPr lang="en-US" dirty="0"/>
              <a:t>Submit via </a:t>
            </a:r>
            <a:r>
              <a:rPr lang="en-US" dirty="0" err="1"/>
              <a:t>Gradescope</a:t>
            </a:r>
            <a:endParaRPr lang="en-US" dirty="0"/>
          </a:p>
          <a:p>
            <a:pPr lvl="1"/>
            <a:r>
              <a:rPr lang="en-US" dirty="0"/>
              <a:t>No Collaboration</a:t>
            </a:r>
          </a:p>
          <a:p>
            <a:r>
              <a:rPr lang="en-US" dirty="0"/>
              <a:t>Resources</a:t>
            </a:r>
          </a:p>
          <a:p>
            <a:pPr lvl="1"/>
            <a:r>
              <a:rPr lang="en-US" dirty="0"/>
              <a:t>Post questions via Ed</a:t>
            </a:r>
          </a:p>
          <a:p>
            <a:pPr lvl="1"/>
            <a:r>
              <a:rPr lang="en-US" dirty="0"/>
              <a:t>Office hours </a:t>
            </a:r>
          </a:p>
          <a:p>
            <a:pPr lvl="1"/>
            <a:r>
              <a:rPr lang="en-US" dirty="0"/>
              <a:t>Optional pseudo-precept this week </a:t>
            </a:r>
          </a:p>
        </p:txBody>
      </p:sp>
    </p:spTree>
    <p:extLst>
      <p:ext uri="{BB962C8B-B14F-4D97-AF65-F5344CB8AC3E}">
        <p14:creationId xmlns:p14="http://schemas.microsoft.com/office/powerpoint/2010/main" val="3467729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9536</TotalTime>
  <Words>3111</Words>
  <Application>Microsoft Macintosh PowerPoint</Application>
  <PresentationFormat>On-screen Show (4:3)</PresentationFormat>
  <Paragraphs>379</Paragraphs>
  <Slides>29</Slides>
  <Notes>21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 Math</vt:lpstr>
      <vt:lpstr>Wingdings</vt:lpstr>
      <vt:lpstr>Office Theme</vt:lpstr>
      <vt:lpstr>COS/ECE 432 Information Security</vt:lpstr>
      <vt:lpstr>Recall: Confidentiality via One-time Pad</vt:lpstr>
      <vt:lpstr>Recall: Desired Encryption Properties?</vt:lpstr>
      <vt:lpstr>Alternative Security Formulation: “Indistinguishability Game”</vt:lpstr>
      <vt:lpstr>Discussion: Why use the xor operation in one time pad? </vt:lpstr>
      <vt:lpstr>Discussion: Can the key be “re-used”? </vt:lpstr>
      <vt:lpstr>Computational Encryption: Feasible/Infeasible Computations</vt:lpstr>
      <vt:lpstr>Computational Encryption: Hardness assumptions</vt:lpstr>
      <vt:lpstr>Symmetric Encryption Paradigm</vt:lpstr>
      <vt:lpstr>Computational Encryption: Stream Ciphers</vt:lpstr>
      <vt:lpstr>Computational Encryption: Symmetric Encryption via Stream Ciphers</vt:lpstr>
      <vt:lpstr>Pseudo-Random Functions </vt:lpstr>
      <vt:lpstr>Pseudo-Random Functions </vt:lpstr>
      <vt:lpstr>PRF Security as Indistinguishability Game (Between Adversary and Us) </vt:lpstr>
      <vt:lpstr>How to create a PRF from PRG? </vt:lpstr>
      <vt:lpstr>How to create a PRG from PRF?</vt:lpstr>
      <vt:lpstr>Forward Security? </vt:lpstr>
      <vt:lpstr>Forward-secure PRG from PRF</vt:lpstr>
      <vt:lpstr>Recall: Threat Model &amp;  Security Properties</vt:lpstr>
      <vt:lpstr>How to Protect Integrity?</vt:lpstr>
      <vt:lpstr>Message Authentication Code (MAC)</vt:lpstr>
      <vt:lpstr>Integrity via  Message Authentication Codes</vt:lpstr>
      <vt:lpstr>“Secure MAC game” Us vs. Adversary</vt:lpstr>
      <vt:lpstr>Theorem: if F is a PRF then F is a secure MAC</vt:lpstr>
      <vt:lpstr>Note: Replay Attacks and Defenses</vt:lpstr>
      <vt:lpstr>Authenticated Encryption: Both Confidentiality and Integrity</vt:lpstr>
      <vt:lpstr>Authenticated Encryption: Both Confidentiality and Integrity</vt:lpstr>
      <vt:lpstr>Summary</vt:lpstr>
      <vt:lpstr>Homework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 574 Communication Security and Privacy</dc:title>
  <dc:creator>mittal</dc:creator>
  <cp:lastModifiedBy>Prateek Mittal</cp:lastModifiedBy>
  <cp:revision>337</cp:revision>
  <dcterms:created xsi:type="dcterms:W3CDTF">2006-08-16T00:00:00Z</dcterms:created>
  <dcterms:modified xsi:type="dcterms:W3CDTF">2026-01-29T14:51:14Z</dcterms:modified>
</cp:coreProperties>
</file>